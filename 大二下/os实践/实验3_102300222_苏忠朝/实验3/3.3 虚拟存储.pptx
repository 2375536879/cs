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bookmarkIdSeed="4">
  <p:sldMasterIdLst>
    <p:sldMasterId id="2147483648" r:id="rId1"/>
  </p:sldMasterIdLst>
  <p:notesMasterIdLst>
    <p:notesMasterId r:id="rId37"/>
  </p:notesMasterIdLst>
  <p:sldIdLst>
    <p:sldId id="617" r:id="rId2"/>
    <p:sldId id="618" r:id="rId3"/>
    <p:sldId id="619" r:id="rId4"/>
    <p:sldId id="620" r:id="rId5"/>
    <p:sldId id="623" r:id="rId6"/>
    <p:sldId id="776" r:id="rId7"/>
    <p:sldId id="621" r:id="rId8"/>
    <p:sldId id="624" r:id="rId9"/>
    <p:sldId id="625" r:id="rId10"/>
    <p:sldId id="626" r:id="rId11"/>
    <p:sldId id="627" r:id="rId12"/>
    <p:sldId id="628" r:id="rId13"/>
    <p:sldId id="629" r:id="rId14"/>
    <p:sldId id="630" r:id="rId15"/>
    <p:sldId id="631" r:id="rId16"/>
    <p:sldId id="777" r:id="rId17"/>
    <p:sldId id="633" r:id="rId18"/>
    <p:sldId id="634" r:id="rId19"/>
    <p:sldId id="635" r:id="rId20"/>
    <p:sldId id="636" r:id="rId21"/>
    <p:sldId id="778" r:id="rId22"/>
    <p:sldId id="779" r:id="rId23"/>
    <p:sldId id="780" r:id="rId24"/>
    <p:sldId id="781" r:id="rId25"/>
    <p:sldId id="642" r:id="rId26"/>
    <p:sldId id="782" r:id="rId27"/>
    <p:sldId id="783" r:id="rId28"/>
    <p:sldId id="795" r:id="rId29"/>
    <p:sldId id="784" r:id="rId30"/>
    <p:sldId id="785" r:id="rId31"/>
    <p:sldId id="647" r:id="rId32"/>
    <p:sldId id="786" r:id="rId33"/>
    <p:sldId id="787" r:id="rId34"/>
    <p:sldId id="788" r:id="rId35"/>
    <p:sldId id="789" r:id="rId36"/>
  </p:sldIdLst>
  <p:sldSz cx="9144000" cy="6858000" type="screen4x3"/>
  <p:notesSz cx="6858000" cy="9144000"/>
  <p:custDataLst>
    <p:tags r:id="rId3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4" userDrawn="1">
          <p15:clr>
            <a:srgbClr val="A4A3A4"/>
          </p15:clr>
        </p15:guide>
        <p15:guide id="2" pos="281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012"/>
    <a:srgbClr val="95070A"/>
    <a:srgbClr val="FD4444"/>
    <a:srgbClr val="E7EEEF"/>
    <a:srgbClr val="4A66AC"/>
    <a:srgbClr val="4472C4"/>
    <a:srgbClr val="9CACD4"/>
    <a:srgbClr val="CB6B0B"/>
    <a:srgbClr val="8498CA"/>
    <a:srgbClr val="C96A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09" autoAdjust="0"/>
    <p:restoredTop sz="80825" autoAdjust="0"/>
  </p:normalViewPr>
  <p:slideViewPr>
    <p:cSldViewPr snapToGrid="0" showGuides="1">
      <p:cViewPr varScale="1">
        <p:scale>
          <a:sx n="62" d="100"/>
          <a:sy n="62" d="100"/>
        </p:scale>
        <p:origin x="624" y="-6"/>
      </p:cViewPr>
      <p:guideLst>
        <p:guide orient="horz" pos="2284"/>
        <p:guide pos="281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FC0A6-F8CB-4BFF-93BD-B5442D8386B8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89B698-2AAB-4B55-B477-BE788D51A5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565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4759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1818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6010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1369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816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5783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6145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0C4F   </a:t>
            </a:r>
            <a:r>
              <a:rPr lang="zh-CN" altLang="en-US" dirty="0"/>
              <a:t>答案</a:t>
            </a:r>
            <a:r>
              <a:rPr lang="en-US" altLang="zh-CN" dirty="0"/>
              <a:t>1C4F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9028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7484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5128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3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3293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9226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9B698-2AAB-4B55-B477-BE788D51A5A0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449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4287" y="-15875"/>
            <a:ext cx="499317" cy="481025"/>
          </a:xfrm>
          <a:prstGeom prst="rect">
            <a:avLst/>
          </a:prstGeom>
          <a:solidFill>
            <a:srgbClr val="FD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534612" y="18952"/>
            <a:ext cx="4419374" cy="378412"/>
          </a:xfrm>
          <a:prstGeom prst="rect">
            <a:avLst/>
          </a:prstGeom>
        </p:spPr>
        <p:txBody>
          <a:bodyPr anchor="b"/>
          <a:lstStyle>
            <a:lvl1pPr algn="l">
              <a:defRPr sz="2100" b="1" spc="450" baseline="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" name="矩形 9"/>
          <p:cNvSpPr>
            <a:spLocks noChangeArrowheads="1"/>
          </p:cNvSpPr>
          <p:nvPr userDrawn="1"/>
        </p:nvSpPr>
        <p:spPr bwMode="auto">
          <a:xfrm>
            <a:off x="-14288" y="401340"/>
            <a:ext cx="9158287" cy="66973"/>
          </a:xfrm>
          <a:prstGeom prst="rect">
            <a:avLst/>
          </a:prstGeom>
          <a:gradFill rotWithShape="1"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48000">
                <a:solidFill>
                  <a:schemeClr val="accent1"/>
                </a:solidFill>
                <a:bevel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6" name="矩形 8"/>
          <p:cNvSpPr>
            <a:spLocks noChangeArrowheads="1"/>
          </p:cNvSpPr>
          <p:nvPr userDrawn="1"/>
        </p:nvSpPr>
        <p:spPr bwMode="auto">
          <a:xfrm>
            <a:off x="8662946" y="6400800"/>
            <a:ext cx="481054" cy="457200"/>
          </a:xfrm>
          <a:prstGeom prst="rect">
            <a:avLst/>
          </a:prstGeom>
          <a:solidFill>
            <a:srgbClr val="95070A"/>
          </a:solidFill>
          <a:ln>
            <a:noFill/>
          </a:ln>
          <a:extLst>
            <a:ext uri="{91240B29-F687-4F45-9708-019B960494DF}">
              <a14:hiddenLine xmlns:a14="http://schemas.microsoft.com/office/drawing/2010/main" w="48000">
                <a:solidFill>
                  <a:srgbClr val="AF7E00"/>
                </a:solidFill>
                <a:bevel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" name="textbox 52"/>
          <p:cNvSpPr/>
          <p:nvPr/>
        </p:nvSpPr>
        <p:spPr>
          <a:xfrm>
            <a:off x="1452897" y="2416933"/>
            <a:ext cx="5537834" cy="3140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ts val="2725"/>
              </a:lnSpc>
            </a:pPr>
            <a:endParaRPr sz="16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80415" y="1482725"/>
            <a:ext cx="8155305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r>
              <a:rPr sz="4000" b="1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3.3</a:t>
            </a:r>
            <a:r>
              <a:rPr sz="4000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4000" b="1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虚拟存储器</a:t>
            </a: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2000"/>
              </a:lnSpc>
            </a:pPr>
            <a:endParaRPr sz="2800" kern="0" spc="2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rtl="0" eaLnBrk="0">
              <a:lnSpc>
                <a:spcPct val="92000"/>
              </a:lnSpc>
            </a:pPr>
            <a:r>
              <a:rPr sz="2800" kern="0" spc="2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静态存储和交换技术的缺点：</a:t>
            </a:r>
            <a:r>
              <a:rPr sz="2800" kern="0" spc="2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无法有效支</a:t>
            </a:r>
            <a:r>
              <a:rPr sz="2800" kern="0" spc="-1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持比物理内存空间大的程序的运行</a:t>
            </a:r>
            <a:r>
              <a:rPr sz="2800" kern="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24815" algn="l" rtl="0" eaLnBrk="0">
              <a:lnSpc>
                <a:spcPts val="4080"/>
              </a:lnSpc>
            </a:pPr>
            <a:r>
              <a:rPr sz="2800" kern="0" spc="16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常规存储器管理方式</a:t>
            </a:r>
            <a:r>
              <a:rPr sz="2800" kern="0" spc="15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的特征</a:t>
            </a:r>
            <a:r>
              <a:rPr sz="2800" kern="0" spc="1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82015" indent="-457200" algn="l" rtl="0" eaLnBrk="0">
              <a:lnSpc>
                <a:spcPts val="4080"/>
              </a:lnSpc>
              <a:buFont typeface="Arial" panose="020B0604020202020204" pitchFamily="34" charset="0"/>
              <a:buChar char="•"/>
            </a:pPr>
            <a:r>
              <a:rPr sz="2800" kern="0" spc="2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一次性：作业在运</a:t>
            </a:r>
            <a:r>
              <a:rPr sz="2800" kern="0" spc="1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行前需一次性全部载入内存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82015" indent="-457200" algn="l" rtl="0" eaLnBrk="0">
              <a:lnSpc>
                <a:spcPts val="4080"/>
              </a:lnSpc>
              <a:buFont typeface="Arial" panose="020B0604020202020204" pitchFamily="34" charset="0"/>
              <a:buChar char="•"/>
            </a:pPr>
            <a:r>
              <a:rPr sz="2800" kern="0" spc="8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驻留性：作业装入内存后，便一直驻留在内</a:t>
            </a:r>
            <a:r>
              <a:rPr sz="28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存中，直至作业运行结</a:t>
            </a:r>
            <a:r>
              <a:rPr sz="28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束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1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A76299-2088-4DD2-89BE-3B02B08780D0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2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" name="textbox 52"/>
          <p:cNvSpPr/>
          <p:nvPr/>
        </p:nvSpPr>
        <p:spPr>
          <a:xfrm>
            <a:off x="1452897" y="2416933"/>
            <a:ext cx="5537834" cy="3140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ts val="2725"/>
              </a:lnSpc>
            </a:pPr>
            <a:endParaRPr sz="16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80415" y="1482725"/>
            <a:ext cx="9012555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r>
              <a:rPr sz="2800" b="1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3.3</a:t>
            </a:r>
            <a:r>
              <a:rPr sz="2800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b="1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虚拟存储器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2000"/>
              </a:lnSpc>
            </a:pPr>
            <a:endParaRPr sz="2800" kern="0" spc="2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rtl="0" eaLnBrk="0">
              <a:lnSpc>
                <a:spcPct val="92000"/>
              </a:lnSpc>
            </a:pPr>
            <a:endParaRPr sz="2800" kern="0" spc="2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rtl="0" eaLnBrk="0">
              <a:lnSpc>
                <a:spcPct val="80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03250" algn="l" rtl="0" eaLnBrk="0">
              <a:lnSpc>
                <a:spcPct val="84000"/>
              </a:lnSpc>
            </a:pPr>
            <a:r>
              <a:rPr sz="28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If(x&gt;5)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</a:t>
            </a:r>
            <a:r>
              <a:rPr sz="28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A();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03250" algn="l" rtl="0" eaLnBrk="0">
              <a:lnSpc>
                <a:spcPts val="2385"/>
              </a:lnSpc>
              <a:spcBef>
                <a:spcPts val="1565"/>
              </a:spcBef>
            </a:pPr>
            <a:r>
              <a:rPr sz="28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else             B();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31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0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l" rtl="0" eaLnBrk="0">
              <a:lnSpc>
                <a:spcPct val="94000"/>
              </a:lnSpc>
              <a:spcBef>
                <a:spcPts val="5"/>
              </a:spcBef>
            </a:pPr>
            <a:r>
              <a:rPr sz="2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·A()</a:t>
            </a:r>
            <a:r>
              <a:rPr sz="2800" kern="0" spc="3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sz="2800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B()不会同时运行。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18DCBF-D492-4FA7-B656-9DA7D8C1A8A9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3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" name="textbox 52"/>
          <p:cNvSpPr/>
          <p:nvPr/>
        </p:nvSpPr>
        <p:spPr>
          <a:xfrm>
            <a:off x="1452897" y="2416933"/>
            <a:ext cx="5537834" cy="3140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ts val="2725"/>
              </a:lnSpc>
            </a:pPr>
            <a:endParaRPr sz="16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79780" y="1229995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r>
              <a:rPr sz="4000" b="1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3.3</a:t>
            </a:r>
            <a:r>
              <a:rPr sz="4000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4000" b="1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虚拟存储器</a:t>
            </a:r>
            <a:endParaRPr sz="4000" b="1" kern="0" spc="5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rtl="0" eaLnBrk="0">
              <a:lnSpc>
                <a:spcPct val="92000"/>
              </a:lnSpc>
            </a:pP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2000"/>
              </a:lnSpc>
            </a:pP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88" name="textbox 888"/>
          <p:cNvSpPr/>
          <p:nvPr/>
        </p:nvSpPr>
        <p:spPr>
          <a:xfrm>
            <a:off x="534035" y="1858010"/>
            <a:ext cx="7456805" cy="3141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>
              <a:lnSpc>
                <a:spcPct val="150000"/>
              </a:lnSpc>
              <a:spcBef>
                <a:spcPts val="0"/>
              </a:spcBef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31165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28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lang="zh-CN" altLang="en-US" sz="2800" kern="0" spc="-7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800" kern="0" spc="12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虚拟存储：用较小的空间运行较大的程序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31165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sz="2800" kern="0" spc="-8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为什么会产生虚拟存储?-—</a:t>
            </a:r>
            <a:r>
              <a:rPr sz="2800" kern="0" spc="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时间换空间</a:t>
            </a:r>
            <a:endParaRPr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76580" indent="-145415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sz="28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sz="2800" kern="0" spc="-7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8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用户在编程时可以不考虑实际内存的大小，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sz="28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认为自己编写多大程序就有多大的虚拟存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sz="2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储器对应。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 fontAlgn="auto">
              <a:lnSpc>
                <a:spcPct val="150000"/>
              </a:lnSpc>
              <a:spcBef>
                <a:spcPts val="0"/>
              </a:spcBef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 fontAlgn="auto">
              <a:lnSpc>
                <a:spcPct val="150000"/>
              </a:lnSpc>
              <a:spcBef>
                <a:spcPts val="0"/>
              </a:spcBef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E31458-60AF-4965-9772-503BA0687667}"/>
              </a:ext>
            </a:extLst>
          </p:cNvPr>
          <p:cNvSpPr txBox="1"/>
          <p:nvPr/>
        </p:nvSpPr>
        <p:spPr>
          <a:xfrm>
            <a:off x="559076" y="11502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4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" name="textbox 52"/>
          <p:cNvSpPr/>
          <p:nvPr/>
        </p:nvSpPr>
        <p:spPr>
          <a:xfrm>
            <a:off x="1452897" y="2416933"/>
            <a:ext cx="5537834" cy="3140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ts val="2725"/>
              </a:lnSpc>
            </a:pPr>
            <a:endParaRPr sz="16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79780" y="1229995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r>
              <a:rPr sz="4000" b="1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虚拟存储的核心-—局部性原理</a:t>
            </a: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2000"/>
              </a:lnSpc>
            </a:pP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88" name="textbox 888"/>
          <p:cNvSpPr/>
          <p:nvPr/>
        </p:nvSpPr>
        <p:spPr>
          <a:xfrm>
            <a:off x="534035" y="2049145"/>
            <a:ext cx="7839075" cy="3141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31165" algn="l" rtl="0" eaLnBrk="0" fontAlgn="auto">
              <a:lnSpc>
                <a:spcPct val="130000"/>
              </a:lnSpc>
              <a:spcBef>
                <a:spcPts val="0"/>
              </a:spcBef>
            </a:pPr>
            <a:r>
              <a:rPr sz="2800" kern="0" spc="17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程序运行的时间局</a:t>
            </a:r>
            <a:r>
              <a:rPr sz="2800" kern="0" spc="16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部性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74750" indent="-457200" algn="l" rtl="0" eaLnBrk="0" fontAlgn="auto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sz="2800" kern="0" spc="4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一个内存单元被访问后，有可能在较短时间间隔内被</a:t>
            </a:r>
            <a:r>
              <a:rPr sz="2800" kern="0" spc="5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重复访问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74750" indent="-457200" algn="l" rtl="0" eaLnBrk="0" fontAlgn="auto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sz="2800" kern="0" spc="3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时间局部性的体现：循环、重复调用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31165" algn="l" rtl="0" eaLnBrk="0" fontAlgn="auto">
              <a:lnSpc>
                <a:spcPct val="130000"/>
              </a:lnSpc>
              <a:spcBef>
                <a:spcPts val="0"/>
              </a:spcBef>
            </a:pPr>
            <a:r>
              <a:rPr sz="2800" kern="0" spc="17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程序运行的空间局</a:t>
            </a:r>
            <a:r>
              <a:rPr sz="2800" kern="0" spc="16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部性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74750" indent="-457200" algn="l" rtl="0" eaLnBrk="0" fontAlgn="auto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sz="2800" kern="0" spc="4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一个内存单元被访问后，其相邻单元在一定时间内也</a:t>
            </a:r>
            <a:r>
              <a:rPr sz="2800" kern="0" spc="3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会被访问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74750" indent="-457200" algn="l" rtl="0" eaLnBrk="0" fontAlgn="auto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sz="2800" kern="0" spc="3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空间局部性的体现：数组</a:t>
            </a:r>
            <a:r>
              <a:rPr sz="2800" kern="0" spc="2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、链表等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9F897E-6DA7-4DB9-9634-689BE68A2C5E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5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" name="textbox 52"/>
          <p:cNvSpPr/>
          <p:nvPr/>
        </p:nvSpPr>
        <p:spPr>
          <a:xfrm>
            <a:off x="1452897" y="2416933"/>
            <a:ext cx="5537834" cy="3140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ts val="2725"/>
              </a:lnSpc>
            </a:pPr>
            <a:endParaRPr sz="16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79780" y="1229995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r>
              <a:rPr sz="2800" b="1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虚拟存储的核心-—局部性原理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2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88" name="textbox 888"/>
          <p:cNvSpPr/>
          <p:nvPr/>
        </p:nvSpPr>
        <p:spPr>
          <a:xfrm>
            <a:off x="301625" y="2301875"/>
            <a:ext cx="8061960" cy="3141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37515" algn="l" rtl="0" eaLnBrk="0">
              <a:lnSpc>
                <a:spcPct val="96000"/>
              </a:lnSpc>
              <a:spcBef>
                <a:spcPts val="610"/>
              </a:spcBef>
            </a:pPr>
            <a:r>
              <a:rPr sz="2800" kern="0" spc="-2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虚拟存储的核心思想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93165" indent="-457200" algn="l" rtl="0" eaLnBrk="0">
              <a:lnSpc>
                <a:spcPct val="13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800" kern="0" spc="7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基于局部性原理，将大程序划分为多个较小</a:t>
            </a:r>
            <a:r>
              <a:rPr sz="2800" kern="0" spc="11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的部分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86815" indent="-457200" algn="l" rtl="0" eaLnBrk="0">
              <a:lnSpc>
                <a:spcPct val="136000"/>
              </a:lnSpc>
              <a:spcBef>
                <a:spcPts val="540"/>
              </a:spcBef>
              <a:buFont typeface="Arial" panose="020B0604020202020204" pitchFamily="34" charset="0"/>
              <a:buChar char="•"/>
            </a:pPr>
            <a:r>
              <a:rPr sz="2800" kern="0" spc="5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当进程运行时，先将一部分程序装入内</a:t>
            </a:r>
            <a:r>
              <a:rPr sz="2800" kern="0" spc="4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存</a:t>
            </a:r>
            <a:r>
              <a:rPr sz="28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28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另一部分暂时留在外存，当要执行的</a:t>
            </a:r>
            <a:r>
              <a:rPr sz="28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指令不在内存时，由系统自动完成将它们从外存调</a:t>
            </a:r>
            <a:r>
              <a:rPr sz="2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入内存工作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31165" algn="l" rtl="0" eaLnBrk="0">
              <a:lnSpc>
                <a:spcPct val="99000"/>
              </a:lnSpc>
              <a:spcBef>
                <a:spcPts val="460"/>
              </a:spcBef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A23C60-485F-4FC2-A998-0E4996011E4B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6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" name="textbox 52"/>
          <p:cNvSpPr/>
          <p:nvPr/>
        </p:nvSpPr>
        <p:spPr>
          <a:xfrm>
            <a:off x="1452897" y="2416933"/>
            <a:ext cx="5537834" cy="3140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ts val="2725"/>
              </a:lnSpc>
            </a:pPr>
            <a:endParaRPr sz="16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79780" y="1360496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r>
              <a:rPr lang="en-US" altLang="zh-CN" sz="2800" b="1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3.3.1 </a:t>
            </a:r>
            <a:r>
              <a:rPr lang="zh-CN" altLang="en-US" sz="2800" b="1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分页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A23C60-485F-4FC2-A998-0E4996011E4B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9FD4FEF-7FC1-4B8D-85C1-1C24C3D3C7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89" y="2370053"/>
            <a:ext cx="6062596" cy="330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360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7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" name="textbox 52"/>
          <p:cNvSpPr/>
          <p:nvPr/>
        </p:nvSpPr>
        <p:spPr>
          <a:xfrm>
            <a:off x="1452897" y="2416933"/>
            <a:ext cx="5537834" cy="3140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ts val="2725"/>
              </a:lnSpc>
            </a:pPr>
            <a:endParaRPr sz="16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79780" y="1229995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r>
              <a:rPr sz="40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3.3.1</a:t>
            </a:r>
            <a:r>
              <a:rPr sz="4000" kern="0" spc="-2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40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分页</a:t>
            </a: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88" name="textbox 888"/>
          <p:cNvSpPr/>
          <p:nvPr/>
        </p:nvSpPr>
        <p:spPr>
          <a:xfrm>
            <a:off x="779780" y="2301875"/>
            <a:ext cx="7198360" cy="3141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31165" algn="l" rtl="0" eaLnBrk="0">
              <a:lnSpc>
                <a:spcPct val="96000"/>
              </a:lnSpc>
            </a:pPr>
            <a:r>
              <a:rPr sz="28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1.页</a:t>
            </a:r>
            <a:r>
              <a:rPr sz="2800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面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64515" indent="-133350" algn="l" rtl="0" eaLnBrk="0">
              <a:lnSpc>
                <a:spcPct val="147000"/>
              </a:lnSpc>
              <a:spcBef>
                <a:spcPts val="1160"/>
              </a:spcBef>
            </a:pPr>
            <a:r>
              <a:rPr sz="2800" kern="0" spc="1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sz="2800" kern="0" spc="-6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1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页(页面)-</a:t>
            </a:r>
            <a:r>
              <a:rPr sz="2800" kern="0" spc="17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把每个进程逻辑地址空间划</a:t>
            </a:r>
            <a:r>
              <a:rPr sz="2800" kern="0" spc="8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分成若干大小相等的块，并为各页加以编</a:t>
            </a: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号</a:t>
            </a:r>
            <a:r>
              <a:rPr sz="2800" kern="0" spc="3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31165" algn="l" rtl="0" eaLnBrk="0">
              <a:lnSpc>
                <a:spcPct val="96000"/>
              </a:lnSpc>
              <a:spcBef>
                <a:spcPts val="600"/>
              </a:spcBef>
            </a:pP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sz="2800" kern="0" spc="-6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页帧-把内存空间划分成与页相同的块。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02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5A97111-4ED5-45C4-B542-3B4D263071F0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8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" name="textbox 52"/>
          <p:cNvSpPr/>
          <p:nvPr/>
        </p:nvSpPr>
        <p:spPr>
          <a:xfrm>
            <a:off x="1452897" y="2416933"/>
            <a:ext cx="5537834" cy="3140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ts val="2725"/>
              </a:lnSpc>
            </a:pPr>
            <a:endParaRPr sz="16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79780" y="1229995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r>
              <a:rPr sz="40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3.3.1</a:t>
            </a:r>
            <a:r>
              <a:rPr sz="4000" b="1" kern="0" spc="-2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40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分页</a:t>
            </a:r>
            <a:endParaRPr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88" name="textbox 888"/>
          <p:cNvSpPr/>
          <p:nvPr/>
        </p:nvSpPr>
        <p:spPr>
          <a:xfrm>
            <a:off x="780415" y="2734945"/>
            <a:ext cx="7096760" cy="3141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37515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sz="2800" b="1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在为进程分配内存时，以页为单位将进程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89915" indent="-6350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sz="2800" kern="0" spc="7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中的若干个页分别装入到多个可以不相邻</a:t>
            </a:r>
            <a:r>
              <a:rPr sz="2800" kern="0" spc="14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的页帧中</a:t>
            </a:r>
            <a:r>
              <a:rPr sz="28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B7359B-D96C-4255-B6C4-1640795C1ABD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9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屏幕截图 2025-02-28 1048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1011555"/>
            <a:ext cx="7391400" cy="52292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DB5EC68-0480-4C26-991A-9E1D3BC4D1B8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10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" name="textbox 52"/>
          <p:cNvSpPr/>
          <p:nvPr/>
        </p:nvSpPr>
        <p:spPr>
          <a:xfrm>
            <a:off x="1099202" y="1694938"/>
            <a:ext cx="5537834" cy="3140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ts val="2725"/>
              </a:lnSpc>
            </a:pPr>
            <a:endParaRPr sz="16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box 970"/>
          <p:cNvSpPr/>
          <p:nvPr/>
        </p:nvSpPr>
        <p:spPr>
          <a:xfrm>
            <a:off x="1341755" y="2416175"/>
            <a:ext cx="7399020" cy="1625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indent="0" algn="l" rtl="0" eaLnBrk="0" fontAlgn="auto">
              <a:lnSpc>
                <a:spcPct val="150000"/>
              </a:lnSpc>
            </a:pP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2.分页式存储器的逻辑地址结构</a:t>
            </a:r>
            <a:endParaRPr lang="en-US" sz="2400" kern="0" spc="7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 rtl="0" eaLnBrk="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kern="0" spc="21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分页地址中的地址结构确定了</a:t>
            </a:r>
            <a:r>
              <a:rPr sz="2400" kern="0" spc="20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主存储器的</a:t>
            </a:r>
            <a:r>
              <a:rPr sz="2400" kern="0" spc="13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分页大小，也决定了页</a:t>
            </a:r>
            <a:r>
              <a:rPr sz="2400" kern="0" spc="12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面大小</a:t>
            </a:r>
            <a:r>
              <a:rPr sz="24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rtl="0" eaLnBrk="0" fontAlgn="auto">
              <a:lnSpc>
                <a:spcPct val="15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indent="0" algn="l" rtl="0" eaLnBrk="0" fontAlgn="auto">
              <a:lnSpc>
                <a:spcPct val="15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7515" indent="0" algn="l" rtl="0" eaLnBrk="0" fontAlgn="auto">
              <a:lnSpc>
                <a:spcPct val="150000"/>
              </a:lnSpc>
            </a:pPr>
            <a:endParaRPr sz="12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textbox 972"/>
          <p:cNvSpPr/>
          <p:nvPr/>
        </p:nvSpPr>
        <p:spPr>
          <a:xfrm>
            <a:off x="1099202" y="5461641"/>
            <a:ext cx="5182870" cy="8426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</a:pP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总页数：220=1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 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(页);每页大小为：212=4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KB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7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  <a:spcBef>
                <a:spcPts val="5"/>
              </a:spcBef>
            </a:pP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textbox 980"/>
          <p:cNvSpPr/>
          <p:nvPr/>
        </p:nvSpPr>
        <p:spPr>
          <a:xfrm>
            <a:off x="922655" y="1437005"/>
            <a:ext cx="4760595" cy="405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r>
              <a:rPr sz="40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3.3.1</a:t>
            </a:r>
            <a:r>
              <a:rPr sz="4000" kern="0" spc="-2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4000" b="1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分页</a:t>
            </a: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497EC74-222B-4EED-A875-14BF309A6082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1AA3AB2-E354-423E-9118-F938FB61A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733" y="4320418"/>
            <a:ext cx="4550275" cy="8426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11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79780" y="1229995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r>
              <a:rPr sz="4000" b="1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3.3.1</a:t>
            </a:r>
            <a:r>
              <a:rPr sz="4000"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4000" b="1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分页</a:t>
            </a: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3400" y="2427605"/>
            <a:ext cx="840168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2700" indent="0" algn="l" rtl="0" eaLnBrk="0" fontAlgn="auto">
              <a:lnSpc>
                <a:spcPct val="150000"/>
              </a:lnSpc>
            </a:pPr>
            <a:r>
              <a:rPr sz="28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sz="2800" kern="0" spc="-7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对某特定机器，其地址结构是一</a:t>
            </a:r>
            <a:r>
              <a:rPr sz="28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定的。若</a:t>
            </a:r>
            <a:r>
              <a:rPr sz="28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给定一个逻辑地址空间中的地址为A,</a:t>
            </a:r>
            <a:r>
              <a:rPr sz="28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</a:t>
            </a:r>
            <a:r>
              <a:rPr sz="2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面的大小为L, </a:t>
            </a:r>
            <a:r>
              <a:rPr sz="2800" kern="0" spc="10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则页号P和页内地址d可</a:t>
            </a:r>
            <a:r>
              <a:rPr sz="2800" kern="0" spc="-3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10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按</a:t>
            </a:r>
            <a:r>
              <a:rPr sz="2800" kern="0" spc="7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下式求得</a:t>
            </a:r>
            <a:r>
              <a:rPr sz="2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lang="zh-CN" altLang="en-US" sz="2800" kern="0" spc="7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984" name="picture 9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734310" y="4583430"/>
            <a:ext cx="1939290" cy="880110"/>
          </a:xfrm>
          <a:prstGeom prst="rect">
            <a:avLst/>
          </a:prstGeom>
        </p:spPr>
      </p:pic>
      <p:sp>
        <p:nvSpPr>
          <p:cNvPr id="992" name="textbox 992"/>
          <p:cNvSpPr/>
          <p:nvPr/>
        </p:nvSpPr>
        <p:spPr>
          <a:xfrm>
            <a:off x="2734310" y="5727700"/>
            <a:ext cx="234124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r>
              <a:rPr sz="3000" i="1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d=[A]</a:t>
            </a:r>
            <a:r>
              <a:rPr sz="3000" i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MODL</a:t>
            </a:r>
            <a:endParaRPr sz="3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C037E5-37AF-4D8A-83ED-39208C6B7CE6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12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79780" y="1229995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r>
              <a:rPr sz="4000" b="1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3.3.1</a:t>
            </a:r>
            <a:r>
              <a:rPr sz="4000" b="1"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4000" b="1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分页</a:t>
            </a:r>
            <a:endParaRPr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4035" y="2416810"/>
            <a:ext cx="7458075" cy="274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7515" algn="l" rtl="0" eaLnBrk="0">
              <a:lnSpc>
                <a:spcPct val="92000"/>
              </a:lnSpc>
            </a:pPr>
            <a:r>
              <a:rPr sz="28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sz="2800" kern="0" spc="-7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当逻辑地址空间大于物理地址空间时，</a:t>
            </a:r>
            <a:r>
              <a:rPr sz="28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必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70865" algn="l" rtl="0" eaLnBrk="0">
              <a:lnSpc>
                <a:spcPct val="140000"/>
              </a:lnSpc>
              <a:spcBef>
                <a:spcPts val="595"/>
              </a:spcBef>
            </a:pPr>
            <a:r>
              <a:rPr sz="2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然有一些逻辑页没有建立与物理</a:t>
            </a:r>
            <a:r>
              <a:rPr sz="2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页帧的映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r>
              <a:rPr sz="2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射，当运行到这些逻辑页内的指</a:t>
            </a:r>
            <a:r>
              <a:rPr sz="2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令时，就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必须将其</a:t>
            </a:r>
            <a:r>
              <a:rPr sz="2800" kern="0" spc="3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调入物理内存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l" rtl="0" eaLnBrk="0">
              <a:lnSpc>
                <a:spcPct val="87000"/>
              </a:lnSpc>
            </a:pPr>
            <a:endParaRPr lang="zh-CN" altLang="en-US" sz="2800" kern="0" spc="7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F86D39-8704-4456-A814-11A4950F6BE1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13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0983420-AF8E-4E5F-B992-D0F8C5067DAD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F8FD6B2-A83B-44A4-9CF3-8A9160DFC6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16" y="787193"/>
            <a:ext cx="6761399" cy="54640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14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0" name="textbox 1030"/>
          <p:cNvSpPr/>
          <p:nvPr/>
        </p:nvSpPr>
        <p:spPr>
          <a:xfrm>
            <a:off x="733250" y="976850"/>
            <a:ext cx="1532622" cy="336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8275" algn="l" rtl="0" eaLnBrk="0">
              <a:lnSpc>
                <a:spcPts val="2445"/>
              </a:lnSpc>
            </a:pPr>
            <a:r>
              <a:rPr sz="2400" b="1" kern="0" spc="-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【例】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AAF1734-E3C4-468A-88A0-B3AD6EA1776C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B92962-18E9-4037-8D79-A73063EFA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664" y="1609932"/>
            <a:ext cx="6709491" cy="44918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15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80415" y="1229995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r>
              <a:rPr sz="4000" b="1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3.3.2</a:t>
            </a:r>
            <a:r>
              <a:rPr sz="4000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4000" b="1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页表</a:t>
            </a: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0415" y="2404745"/>
            <a:ext cx="7036435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457200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系统为每个进程建立一张</a:t>
            </a:r>
            <a:r>
              <a:rPr sz="2800" kern="0" spc="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页面映象表</a:t>
            </a: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即</a:t>
            </a:r>
            <a:r>
              <a:rPr lang="en-US" sz="28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</a:t>
            </a: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页表 。</a:t>
            </a:r>
            <a:endParaRPr sz="2800" kern="0" spc="2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64515" indent="0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页表记录每一个进程的虚页号到物理内存</a:t>
            </a:r>
            <a:r>
              <a:rPr sz="2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中页帧号之间的映射关系，其作用是实现</a:t>
            </a:r>
            <a:r>
              <a:rPr sz="28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从页号到页帧号的地址映射。</a:t>
            </a:r>
            <a:endParaRPr lang="zh-CN" altLang="en-US" sz="2800" kern="0" spc="7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824522-8B53-4984-8F33-A048858C307B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16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80415" y="1229995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r>
              <a:rPr sz="4000" b="1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3.3.2</a:t>
            </a:r>
            <a:r>
              <a:rPr sz="4000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4000" b="1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页表</a:t>
            </a: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824522-8B53-4984-8F33-A048858C307B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666AAF9-6FD0-4AF9-B73A-DAF1598321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302" y="2099035"/>
            <a:ext cx="6851631" cy="443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32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17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79780" y="1320800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r>
              <a:rPr sz="4000" b="1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3.3.2</a:t>
            </a:r>
            <a:r>
              <a:rPr sz="4000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4000" b="1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页表</a:t>
            </a: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5130" y="2427605"/>
            <a:ext cx="7628938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18465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sz="2800" b="1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sz="2800" b="1" kern="0" spc="-5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页表通常驻留在内存中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70230" indent="-151765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sz="28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sz="2800" b="1" kern="0" spc="-7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系统设置一个</a:t>
            </a:r>
            <a:r>
              <a:rPr sz="2800" kern="0" spc="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页表寄存器</a:t>
            </a:r>
            <a:r>
              <a:rPr sz="28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PTR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sz="28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存放当前执行</a:t>
            </a: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进程的页表在内存的始址和页表的长度。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70230" indent="-151765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sz="2800" b="1" kern="0" spc="2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sz="2800" kern="0" spc="-5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2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进程未执行时，页表的</a:t>
            </a:r>
            <a:r>
              <a:rPr sz="2800" kern="0" spc="1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始址和长度存放在本</a:t>
            </a:r>
            <a:r>
              <a:rPr sz="28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进程的</a:t>
            </a:r>
            <a:r>
              <a:rPr sz="28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PCB</a:t>
            </a:r>
            <a:r>
              <a:rPr sz="28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18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中，当调度程序调度到某进程时</a:t>
            </a:r>
            <a:r>
              <a:rPr lang="zh-CN" sz="28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2800" kern="0" spc="17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才将这两个数据装入</a:t>
            </a:r>
            <a:r>
              <a:rPr sz="2800" kern="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PTR</a:t>
            </a:r>
            <a:r>
              <a:rPr sz="2800" kern="0" spc="17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</a:t>
            </a:r>
            <a:r>
              <a:rPr sz="2800" kern="0" spc="-4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1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800" kern="0" spc="7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F62B691-F9A6-43E6-8515-EF6C69768A40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18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4310086-A67C-4F06-97EC-D38C1A627BBC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3FD52E8-6223-4678-9991-05592C8D8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977" y="842546"/>
            <a:ext cx="7096532" cy="573365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19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79780" y="976630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4000" b="1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页面与页表</a:t>
            </a: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00000"/>
              </a:lnSpc>
            </a:pP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49325" y="2533650"/>
            <a:ext cx="654367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18465" indent="0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sz="2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注意：页大小的选择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18465" indent="0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sz="2800" kern="0" spc="-8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太大：页表长度小，但页内</a:t>
            </a:r>
            <a:r>
              <a:rPr sz="2800" kern="0" spc="-4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碎片大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sz="28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</a:t>
            </a: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sz="2800" kern="0" spc="-8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太小：内存碎片小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，但</a:t>
            </a:r>
            <a:r>
              <a:rPr sz="2800" kern="0" spc="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页表过长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18465" indent="0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sz="2800" kern="0" spc="-7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页的大小是2K</a:t>
            </a:r>
            <a:r>
              <a:rPr sz="2800" kern="0" spc="1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sz="2800" kern="0" spc="2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通常为512B-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8KB。</a:t>
            </a:r>
            <a:endParaRPr lang="zh-CN" altLang="en-US" sz="2800" kern="0" spc="7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778BFDE-0871-45C8-9636-F537D794EBDA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20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79780" y="1229995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r>
              <a:rPr sz="4000" b="1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地址变换过程</a:t>
            </a: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3400" y="2427605"/>
            <a:ext cx="8155940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75665" indent="-457200" algn="l" rtl="0" eaLnBrk="0" fontAlgn="auto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sz="2800" kern="0" spc="-5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基本任务：逻辑地</a:t>
            </a:r>
            <a:r>
              <a:rPr sz="2800" kern="0" spc="-6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址→物理地址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75665" indent="-457200" algn="l" rtl="0" eaLnBrk="0" fontAlgn="auto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sz="2800" kern="0" spc="2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由于页面和物理页帧大</a:t>
            </a:r>
            <a:r>
              <a:rPr sz="2800" kern="0" spc="1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小相同，因此页内地址和</a:t>
            </a:r>
            <a:r>
              <a:rPr sz="2800" kern="0" spc="6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块内地址是</a:t>
            </a:r>
            <a:r>
              <a:rPr sz="28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——对应的，无需变</a:t>
            </a:r>
            <a:r>
              <a:rPr sz="28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换。所以地址变</a:t>
            </a:r>
            <a:r>
              <a:rPr sz="28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换实际上只是将逻辑地址中的</a:t>
            </a:r>
            <a:r>
              <a:rPr sz="28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页号，转换为内存</a:t>
            </a:r>
            <a:r>
              <a:rPr sz="28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中的物理页帧号，这一</a:t>
            </a:r>
            <a:r>
              <a:rPr sz="28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任务是由页表来完成的。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75665" indent="-457200" algn="l" rtl="0" eaLnBrk="0" fontAlgn="auto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sz="2800" kern="0" spc="4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即：</a:t>
            </a:r>
            <a:r>
              <a:rPr sz="2800" kern="0" spc="40" dirty="0" err="1">
                <a:solidFill>
                  <a:srgbClr val="ED5E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页号→页表→物理页帧号b,与页内地址w</a:t>
            </a:r>
            <a:r>
              <a:rPr sz="2800" kern="0" spc="-490" dirty="0">
                <a:solidFill>
                  <a:srgbClr val="ED5E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40" dirty="0">
                <a:solidFill>
                  <a:srgbClr val="ED5E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合</a:t>
            </a:r>
            <a:r>
              <a:rPr sz="2800" kern="0" spc="10" dirty="0">
                <a:solidFill>
                  <a:srgbClr val="ED5E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成，形成物理地址。</a:t>
            </a:r>
            <a:endParaRPr lang="zh-CN" altLang="en-US" sz="2800" kern="0" spc="7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0F5CF6-D4C5-4D73-A99D-71B97DE3BD57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21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79780" y="1229995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r>
              <a:rPr sz="4000" b="1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地址变换过程</a:t>
            </a: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0F5CF6-D4C5-4D73-A99D-71B97DE3BD57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0D46E20-27FD-4C3A-982D-F8FA2CA195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145" y="2250711"/>
            <a:ext cx="6834237" cy="422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686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22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0F5CF6-D4C5-4D73-A99D-71B97DE3BD57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7485F1E-EAB5-48F7-93B5-64EBE8FCE6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94" y="869137"/>
            <a:ext cx="7566964" cy="556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450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23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3998619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79780" y="1229995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【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例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】</a:t>
            </a: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0F5CF6-D4C5-4D73-A99D-71B97DE3BD57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1132">
            <a:extLst>
              <a:ext uri="{FF2B5EF4-FFF2-40B4-BE49-F238E27FC236}">
                <a16:creationId xmlns:a16="http://schemas.microsoft.com/office/drawing/2014/main" id="{63BF07BF-FE9D-43C8-B999-CCD29BC206DD}"/>
              </a:ext>
            </a:extLst>
          </p:cNvPr>
          <p:cNvSpPr/>
          <p:nvPr/>
        </p:nvSpPr>
        <p:spPr>
          <a:xfrm>
            <a:off x="638913" y="1870075"/>
            <a:ext cx="4281622" cy="3994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26000"/>
              </a:lnSpc>
            </a:pPr>
            <a:endParaRPr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70230" indent="-139065" algn="l" rtl="0" eaLnBrk="0">
              <a:lnSpc>
                <a:spcPct val="118000"/>
              </a:lnSpc>
              <a:spcBef>
                <a:spcPts val="515"/>
              </a:spcBef>
            </a:pP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在采用页式存储管理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的系统  </a:t>
            </a:r>
            <a:r>
              <a:rPr sz="24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中，某作业</a:t>
            </a:r>
            <a:r>
              <a:rPr lang="en-US" altLang="zh-CN" sz="24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</a:t>
            </a:r>
            <a:r>
              <a:rPr sz="24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的逻辑地址</a:t>
            </a:r>
            <a:r>
              <a:rPr sz="24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空间</a:t>
            </a:r>
            <a:r>
              <a:rPr sz="2400" kern="0" spc="2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为4页(每页2048字节),</a:t>
            </a:r>
            <a:r>
              <a:rPr sz="2400" kern="0" spc="21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且</a:t>
            </a:r>
            <a:r>
              <a:rPr sz="2400" kern="0" spc="3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已知该作业的页面映像表</a:t>
            </a:r>
            <a:r>
              <a:rPr sz="24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(即页表)如右图，试借助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sz="24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地址变换图(要求画出地址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sz="24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变换图)求出有效逻辑地址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4865所对应的物理地址。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00000"/>
              </a:lnSpc>
            </a:pPr>
            <a:endParaRPr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00000"/>
              </a:lnSpc>
            </a:pPr>
            <a:endParaRPr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01000"/>
              </a:lnSpc>
            </a:pPr>
            <a:endParaRPr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10000"/>
              </a:lnSpc>
            </a:pPr>
            <a:endParaRPr sz="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l" rtl="0" eaLnBrk="0">
              <a:lnSpc>
                <a:spcPct val="77000"/>
              </a:lnSpc>
              <a:spcBef>
                <a:spcPts val="0"/>
              </a:spcBef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9E14DB9-6197-413F-BC95-F3488E51D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420" y="2556688"/>
            <a:ext cx="2062178" cy="287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55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24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3998619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0F5CF6-D4C5-4D73-A99D-71B97DE3BD57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B2EF92-92E0-49A2-B0F4-B64303FE08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28" y="811176"/>
            <a:ext cx="7263390" cy="526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848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25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80415" y="1115060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6000"/>
              </a:lnSpc>
            </a:pP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【</a:t>
            </a:r>
            <a:r>
              <a:rPr sz="2800" kern="0" spc="-4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思考题</a:t>
            </a:r>
            <a:r>
              <a:rPr sz="2800" kern="0" spc="-5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】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56005" y="2416810"/>
            <a:ext cx="7307580" cy="32478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7515" indent="0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sz="28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sz="2800" b="1" kern="0" spc="-8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某虚拟存储器的用户空间共有32个页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面，</a:t>
            </a:r>
            <a:r>
              <a:rPr sz="28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每页1</a:t>
            </a:r>
            <a:r>
              <a:rPr sz="28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KB</a:t>
            </a:r>
            <a:r>
              <a:rPr sz="28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en-US" sz="28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主存16</a:t>
            </a:r>
            <a:r>
              <a:rPr sz="28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KB</a:t>
            </a:r>
            <a:r>
              <a:rPr sz="28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。假定某时刻系统为</a:t>
            </a:r>
            <a:r>
              <a:rPr sz="2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该用户的第0、1、2、3页分别分</a:t>
            </a:r>
            <a:r>
              <a:rPr sz="2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配的物理</a:t>
            </a:r>
            <a:r>
              <a:rPr sz="28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页帧号为5、10、4、7,</a:t>
            </a:r>
            <a:r>
              <a:rPr lang="en-US" sz="28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试将虚拟地</a:t>
            </a:r>
            <a:r>
              <a:rPr sz="28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址</a:t>
            </a: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0A5C变换为物理地址。</a:t>
            </a:r>
            <a:endParaRPr lang="zh-CN" altLang="en-US" sz="2800" kern="0" spc="7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22205D-26B8-4E0C-978F-C3E53FA19250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26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80415" y="1115060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6000"/>
              </a:lnSpc>
            </a:pP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【</a:t>
            </a:r>
            <a:r>
              <a:rPr sz="2800" kern="0" spc="-4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问题的解</a:t>
            </a: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】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22205D-26B8-4E0C-978F-C3E53FA19250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54780E0-529F-4DDA-B5FF-9A4E357B5C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902" y="2547236"/>
            <a:ext cx="6424681" cy="353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63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27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80415" y="1115060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6000"/>
              </a:lnSpc>
            </a:pP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【</a:t>
            </a:r>
            <a:r>
              <a:rPr sz="2800" kern="0" spc="-4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问题的解</a:t>
            </a: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】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22205D-26B8-4E0C-978F-C3E53FA19250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E571866-2F11-4BB9-9B17-5D625D6DDE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15" y="2257006"/>
            <a:ext cx="7243231" cy="409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960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28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80415" y="1115060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6000"/>
              </a:lnSpc>
            </a:pP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【</a:t>
            </a:r>
            <a:r>
              <a:rPr sz="2800" kern="0" spc="-4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作业</a:t>
            </a: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题</a:t>
            </a:r>
            <a:r>
              <a:rPr sz="2800" kern="0" spc="-5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】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56005" y="2416810"/>
            <a:ext cx="7307580" cy="32478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7515" indent="0" algn="l" rtl="0" eaLnBrk="0" fontAlgn="auto">
              <a:lnSpc>
                <a:spcPct val="150000"/>
              </a:lnSpc>
              <a:spcBef>
                <a:spcPts val="0"/>
              </a:spcBef>
            </a:pPr>
            <a:r>
              <a:rPr sz="280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sz="2800" b="1" kern="0" spc="-8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某虚拟存储器的用户空间共有32个页</a:t>
            </a: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面，</a:t>
            </a:r>
            <a:r>
              <a:rPr sz="28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每页1</a:t>
            </a:r>
            <a:r>
              <a:rPr sz="28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KB</a:t>
            </a:r>
            <a:r>
              <a:rPr sz="28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en-US" sz="28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主存16</a:t>
            </a:r>
            <a:r>
              <a:rPr sz="28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KB</a:t>
            </a:r>
            <a:r>
              <a:rPr sz="2800" kern="0" spc="1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。假定某时刻系统为</a:t>
            </a:r>
            <a:r>
              <a:rPr sz="2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该用户的第0、1、2、3页分别分</a:t>
            </a:r>
            <a:r>
              <a:rPr sz="2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配的物理</a:t>
            </a:r>
            <a:r>
              <a:rPr sz="28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页帧号为5、10、4、7,</a:t>
            </a:r>
            <a:r>
              <a:rPr lang="en-US" sz="28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28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试将虚拟地</a:t>
            </a:r>
            <a:r>
              <a:rPr sz="28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址</a:t>
            </a: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0C</a:t>
            </a:r>
            <a:r>
              <a:rPr lang="en-US" sz="28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en-US" altLang="zh-CN" sz="28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</a:t>
            </a:r>
            <a:r>
              <a:rPr sz="28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变换为物理地址。</a:t>
            </a:r>
            <a:endParaRPr lang="zh-CN" altLang="en-US" sz="2800" kern="0" spc="7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22205D-26B8-4E0C-978F-C3E53FA19250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25969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29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80415" y="1115060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6000"/>
              </a:lnSpc>
            </a:pP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页表表项的结构</a:t>
            </a:r>
          </a:p>
          <a:p>
            <a:pPr algn="l" rtl="0" eaLnBrk="0">
              <a:lnSpc>
                <a:spcPct val="9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22205D-26B8-4E0C-978F-C3E53FA19250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4B6789-160B-40C2-AE0A-386BFC6CC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01" y="2416810"/>
            <a:ext cx="7210997" cy="394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7018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30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80415" y="1115060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6000"/>
              </a:lnSpc>
            </a:pP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页表表项的结构</a:t>
            </a:r>
          </a:p>
          <a:p>
            <a:pPr algn="l" rtl="0" eaLnBrk="0">
              <a:lnSpc>
                <a:spcPct val="9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22205D-26B8-4E0C-978F-C3E53FA19250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5FA7166-E2F9-4B47-9AC6-2F2608740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102" y="2466197"/>
            <a:ext cx="6767086" cy="396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27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31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79780" y="1229995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r>
              <a:rPr sz="4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两级页表和多级页表</a:t>
            </a: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26160" y="2416810"/>
            <a:ext cx="6635115" cy="32478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just" rtl="0" eaLnBrk="0" fontAlgn="auto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sz="2800" kern="0" spc="2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当页表项很多时，仅采用一级表需</a:t>
            </a:r>
            <a:r>
              <a:rPr lang="zh-CN" altLang="en-US" sz="2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要</a:t>
            </a:r>
            <a:r>
              <a:rPr sz="2800" kern="0" spc="1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</a:t>
            </a:r>
            <a:r>
              <a:rPr sz="2800" kern="0" spc="7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片连续空间，</a:t>
            </a:r>
            <a:r>
              <a:rPr sz="2800" kern="0" spc="70" dirty="0" err="1">
                <a:solidFill>
                  <a:srgbClr val="ED5E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可将页表也分页</a:t>
            </a:r>
            <a:r>
              <a:rPr sz="2800" kern="0" spc="7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2800" kern="0" spc="70" dirty="0" err="1">
                <a:solidFill>
                  <a:srgbClr val="ED5E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并对页表</a:t>
            </a:r>
            <a:r>
              <a:rPr sz="2800" kern="0" spc="80" dirty="0" err="1">
                <a:solidFill>
                  <a:srgbClr val="ED5E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所占的空间进行索引形成</a:t>
            </a:r>
            <a:r>
              <a:rPr lang="zh-CN" altLang="en-US" sz="2800" kern="0" spc="80" dirty="0">
                <a:solidFill>
                  <a:srgbClr val="ED5E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外层</a:t>
            </a:r>
            <a:r>
              <a:rPr sz="2800" kern="0" spc="70" dirty="0" err="1">
                <a:solidFill>
                  <a:srgbClr val="ED5E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页表</a:t>
            </a:r>
            <a:r>
              <a:rPr sz="2800" kern="0" spc="7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。由此</a:t>
            </a:r>
            <a:r>
              <a:rPr sz="2800" kern="0" spc="1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构成两级页表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457200" indent="-457200" algn="just" rtl="0" eaLnBrk="0" fontAlgn="auto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sz="2800" kern="0" spc="-12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更进一步可形成多级页表</a:t>
            </a:r>
            <a:r>
              <a:rPr sz="2800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800" kern="0" spc="7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8EE12A-90BE-4D81-9F2A-DF40A1EBFCBA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32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 1528"/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779780" y="1229995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r>
              <a:rPr lang="zh-CN" altLang="en-US" sz="4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两级页表 </a:t>
            </a:r>
            <a:r>
              <a:rPr lang="en-US" altLang="zh-CN" sz="4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(</a:t>
            </a:r>
            <a:r>
              <a:rPr lang="en-US" sz="4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Two-Level Page Table)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8EE12A-90BE-4D81-9F2A-DF40A1EBFCBA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3F912E-8C2C-455C-AB0A-9876044651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118" y="2471712"/>
            <a:ext cx="6843763" cy="352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2323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33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33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8EE12A-90BE-4D81-9F2A-DF40A1EBFCBA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B1624B7-02CE-4B52-BA05-1AEF602B76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33" y="1009762"/>
            <a:ext cx="7641662" cy="543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2149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34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34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8EE12A-90BE-4D81-9F2A-DF40A1EBFCBA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 1528">
            <a:extLst>
              <a:ext uri="{FF2B5EF4-FFF2-40B4-BE49-F238E27FC236}">
                <a16:creationId xmlns:a16="http://schemas.microsoft.com/office/drawing/2014/main" id="{35EE9D19-1D08-4533-AC60-9D597C24F521}"/>
              </a:ext>
            </a:extLst>
          </p:cNvPr>
          <p:cNvSpPr/>
          <p:nvPr/>
        </p:nvSpPr>
        <p:spPr>
          <a:xfrm>
            <a:off x="301295" y="976382"/>
            <a:ext cx="232983" cy="1325562"/>
          </a:xfrm>
          <a:prstGeom prst="rect">
            <a:avLst/>
          </a:prstGeom>
          <a:solidFill>
            <a:srgbClr val="E83A3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" name="textbox 484">
            <a:extLst>
              <a:ext uri="{FF2B5EF4-FFF2-40B4-BE49-F238E27FC236}">
                <a16:creationId xmlns:a16="http://schemas.microsoft.com/office/drawing/2014/main" id="{99046DE1-A49B-4C15-8126-7D0F75EF83D9}"/>
              </a:ext>
            </a:extLst>
          </p:cNvPr>
          <p:cNvSpPr/>
          <p:nvPr/>
        </p:nvSpPr>
        <p:spPr>
          <a:xfrm>
            <a:off x="779780" y="1229995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r>
              <a:rPr lang="zh-CN" altLang="en-US" sz="4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具有两级页表的地址变换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6887AE-4113-4BA1-B689-7FA96E3C3C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05" y="2120959"/>
            <a:ext cx="6920786" cy="443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1758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35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35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80415" y="2416810"/>
            <a:ext cx="8155305" cy="2418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24815" algn="l" rtl="0" eaLnBrk="0">
              <a:lnSpc>
                <a:spcPct val="87000"/>
              </a:lnSpc>
            </a:pP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8EE12A-90BE-4D81-9F2A-DF40A1EBFCBA}"/>
              </a:ext>
            </a:extLst>
          </p:cNvPr>
          <p:cNvSpPr txBox="1"/>
          <p:nvPr/>
        </p:nvSpPr>
        <p:spPr>
          <a:xfrm>
            <a:off x="559076" y="0"/>
            <a:ext cx="3973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3.3 </a:t>
            </a:r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虚拟存储器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161FA82-04FA-4798-84C0-9C78446A7C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30" y="1071526"/>
            <a:ext cx="7177140" cy="492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0494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RlN2NmNWVlNmJmODc2MDc5ZjFjNDZiM2I0YWNhNjIifQ=="/>
</p:tagLst>
</file>

<file path=ppt/theme/theme1.xml><?xml version="1.0" encoding="utf-8"?>
<a:theme xmlns:a="http://schemas.openxmlformats.org/drawingml/2006/main" name="Office Theme">
  <a:themeElements>
    <a:clrScheme name="橙红色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589</Words>
  <Application>Microsoft Office PowerPoint</Application>
  <PresentationFormat>全屏显示(4:3)</PresentationFormat>
  <Paragraphs>239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等线</vt:lpstr>
      <vt:lpstr>黑体</vt:lpstr>
      <vt:lpstr>宋体</vt:lpstr>
      <vt:lpstr>微软雅黑</vt:lpstr>
      <vt:lpstr>Arial</vt:lpstr>
      <vt:lpstr>Calibri</vt:lpstr>
      <vt:lpstr>Calibri Light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79</cp:revision>
  <dcterms:created xsi:type="dcterms:W3CDTF">2022-12-20T13:15:00Z</dcterms:created>
  <dcterms:modified xsi:type="dcterms:W3CDTF">2025-05-22T16:20:38Z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8B6B6697CE0E42F7979B251A24CB5C5C_12</vt:lpwstr>
  </property>
  <property fmtid="{D5CDD505-2E9C-101B-9397-08002B2CF9AE}" pid="3" name="KSOProductBuildVer">
    <vt:lpwstr>2052-12.1.0.20305</vt:lpwstr>
  </property>
</Properties>
</file>