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bookmarkIdSeed="4">
  <p:sldMasterIdLst>
    <p:sldMasterId id="2147483648" r:id="rId1"/>
  </p:sldMasterIdLst>
  <p:notesMasterIdLst>
    <p:notesMasterId r:id="rId16"/>
  </p:notesMasterIdLst>
  <p:sldIdLst>
    <p:sldId id="834" r:id="rId2"/>
    <p:sldId id="835" r:id="rId3"/>
    <p:sldId id="1148" r:id="rId4"/>
    <p:sldId id="1155" r:id="rId5"/>
    <p:sldId id="1156" r:id="rId6"/>
    <p:sldId id="1157" r:id="rId7"/>
    <p:sldId id="1158" r:id="rId8"/>
    <p:sldId id="1153" r:id="rId9"/>
    <p:sldId id="1159" r:id="rId10"/>
    <p:sldId id="1160" r:id="rId11"/>
    <p:sldId id="1161" r:id="rId12"/>
    <p:sldId id="1162" r:id="rId13"/>
    <p:sldId id="1154" r:id="rId14"/>
    <p:sldId id="1163" r:id="rId15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7" userDrawn="1">
          <p15:clr>
            <a:srgbClr val="A4A3A4"/>
          </p15:clr>
        </p15:guide>
        <p15:guide id="2" pos="28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95070A"/>
    <a:srgbClr val="FD4444"/>
    <a:srgbClr val="E7EEEF"/>
    <a:srgbClr val="4A66AC"/>
    <a:srgbClr val="4472C4"/>
    <a:srgbClr val="9CACD4"/>
    <a:srgbClr val="CB6B0B"/>
    <a:srgbClr val="8498CA"/>
    <a:srgbClr val="C96A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80825" autoAdjust="0"/>
  </p:normalViewPr>
  <p:slideViewPr>
    <p:cSldViewPr snapToGrid="0" showGuides="1">
      <p:cViewPr>
        <p:scale>
          <a:sx n="50" d="100"/>
          <a:sy n="50" d="100"/>
        </p:scale>
        <p:origin x="969" y="282"/>
      </p:cViewPr>
      <p:guideLst>
        <p:guide orient="horz" pos="2327"/>
        <p:guide pos="285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FC0A6-F8CB-4BFF-93BD-B5442D8386B8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9B698-2AAB-4B55-B477-BE788D51A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4287" y="-15875"/>
            <a:ext cx="499317" cy="481025"/>
          </a:xfrm>
          <a:prstGeom prst="rect">
            <a:avLst/>
          </a:prstGeom>
          <a:solidFill>
            <a:srgbClr val="FD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34612" y="18952"/>
            <a:ext cx="4419374" cy="378412"/>
          </a:xfrm>
          <a:prstGeom prst="rect">
            <a:avLst/>
          </a:prstGeom>
        </p:spPr>
        <p:txBody>
          <a:bodyPr anchor="b"/>
          <a:lstStyle>
            <a:lvl1pPr algn="l">
              <a:defRPr sz="2100" b="1" spc="450" baseline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矩形 9"/>
          <p:cNvSpPr>
            <a:spLocks noChangeArrowheads="1"/>
          </p:cNvSpPr>
          <p:nvPr userDrawn="1"/>
        </p:nvSpPr>
        <p:spPr bwMode="auto">
          <a:xfrm>
            <a:off x="-14288" y="401340"/>
            <a:ext cx="9158287" cy="66973"/>
          </a:xfrm>
          <a:prstGeom prst="rect">
            <a:avLst/>
          </a:prstGeom>
          <a:gradFill rotWithShape="1"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48000">
                <a:solidFill>
                  <a:schemeClr val="accent1"/>
                </a:solidFill>
                <a:bevel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6" name="矩形 8"/>
          <p:cNvSpPr>
            <a:spLocks noChangeArrowheads="1"/>
          </p:cNvSpPr>
          <p:nvPr userDrawn="1"/>
        </p:nvSpPr>
        <p:spPr bwMode="auto">
          <a:xfrm>
            <a:off x="8662946" y="6400800"/>
            <a:ext cx="481054" cy="457200"/>
          </a:xfrm>
          <a:prstGeom prst="rect">
            <a:avLst/>
          </a:prstGeom>
          <a:solidFill>
            <a:srgbClr val="95070A"/>
          </a:solidFill>
          <a:ln>
            <a:noFill/>
          </a:ln>
          <a:extLst>
            <a:ext uri="{91240B29-F687-4F45-9708-019B960494DF}">
              <a14:hiddenLine xmlns:a14="http://schemas.microsoft.com/office/drawing/2010/main" w="48000">
                <a:solidFill>
                  <a:srgbClr val="AF7E00"/>
                </a:solidFill>
                <a:bevel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226761"/>
            <a:ext cx="9144000" cy="1850739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7" name="Freeform 61"/>
          <p:cNvSpPr/>
          <p:nvPr/>
        </p:nvSpPr>
        <p:spPr bwMode="auto">
          <a:xfrm>
            <a:off x="2344806" y="2288582"/>
            <a:ext cx="1672208" cy="1727097"/>
          </a:xfrm>
          <a:custGeom>
            <a:avLst/>
            <a:gdLst>
              <a:gd name="T0" fmla="*/ 122 w 148"/>
              <a:gd name="T1" fmla="*/ 45 h 171"/>
              <a:gd name="T2" fmla="*/ 129 w 148"/>
              <a:gd name="T3" fmla="*/ 45 h 171"/>
              <a:gd name="T4" fmla="*/ 129 w 148"/>
              <a:gd name="T5" fmla="*/ 38 h 171"/>
              <a:gd name="T6" fmla="*/ 94 w 148"/>
              <a:gd name="T7" fmla="*/ 3 h 171"/>
              <a:gd name="T8" fmla="*/ 89 w 148"/>
              <a:gd name="T9" fmla="*/ 0 h 171"/>
              <a:gd name="T10" fmla="*/ 85 w 148"/>
              <a:gd name="T11" fmla="*/ 3 h 171"/>
              <a:gd name="T12" fmla="*/ 3 w 148"/>
              <a:gd name="T13" fmla="*/ 81 h 171"/>
              <a:gd name="T14" fmla="*/ 0 w 148"/>
              <a:gd name="T15" fmla="*/ 85 h 171"/>
              <a:gd name="T16" fmla="*/ 3 w 148"/>
              <a:gd name="T17" fmla="*/ 90 h 171"/>
              <a:gd name="T18" fmla="*/ 85 w 148"/>
              <a:gd name="T19" fmla="*/ 168 h 171"/>
              <a:gd name="T20" fmla="*/ 89 w 148"/>
              <a:gd name="T21" fmla="*/ 171 h 171"/>
              <a:gd name="T22" fmla="*/ 94 w 148"/>
              <a:gd name="T23" fmla="*/ 168 h 171"/>
              <a:gd name="T24" fmla="*/ 145 w 148"/>
              <a:gd name="T25" fmla="*/ 121 h 171"/>
              <a:gd name="T26" fmla="*/ 148 w 148"/>
              <a:gd name="T27" fmla="*/ 116 h 171"/>
              <a:gd name="T28" fmla="*/ 145 w 148"/>
              <a:gd name="T29" fmla="*/ 112 h 171"/>
              <a:gd name="T30" fmla="*/ 94 w 148"/>
              <a:gd name="T31" fmla="*/ 58 h 171"/>
              <a:gd name="T32" fmla="*/ 89 w 148"/>
              <a:gd name="T33" fmla="*/ 56 h 171"/>
              <a:gd name="T34" fmla="*/ 84 w 148"/>
              <a:gd name="T35" fmla="*/ 59 h 171"/>
              <a:gd name="T36" fmla="*/ 54 w 148"/>
              <a:gd name="T37" fmla="*/ 87 h 171"/>
              <a:gd name="T38" fmla="*/ 52 w 148"/>
              <a:gd name="T39" fmla="*/ 92 h 171"/>
              <a:gd name="T40" fmla="*/ 53 w 148"/>
              <a:gd name="T41" fmla="*/ 95 h 171"/>
              <a:gd name="T42" fmla="*/ 54 w 148"/>
              <a:gd name="T43" fmla="*/ 96 h 171"/>
              <a:gd name="T44" fmla="*/ 77 w 148"/>
              <a:gd name="T45" fmla="*/ 119 h 171"/>
              <a:gd name="T46" fmla="*/ 82 w 148"/>
              <a:gd name="T47" fmla="*/ 122 h 171"/>
              <a:gd name="T48" fmla="*/ 86 w 148"/>
              <a:gd name="T49" fmla="*/ 119 h 171"/>
              <a:gd name="T50" fmla="*/ 99 w 148"/>
              <a:gd name="T51" fmla="*/ 106 h 171"/>
              <a:gd name="T52" fmla="*/ 99 w 148"/>
              <a:gd name="T53" fmla="*/ 99 h 171"/>
              <a:gd name="T54" fmla="*/ 92 w 148"/>
              <a:gd name="T55" fmla="*/ 99 h 171"/>
              <a:gd name="T56" fmla="*/ 81 w 148"/>
              <a:gd name="T57" fmla="*/ 109 h 171"/>
              <a:gd name="T58" fmla="*/ 64 w 148"/>
              <a:gd name="T59" fmla="*/ 92 h 171"/>
              <a:gd name="T60" fmla="*/ 89 w 148"/>
              <a:gd name="T61" fmla="*/ 68 h 171"/>
              <a:gd name="T62" fmla="*/ 136 w 148"/>
              <a:gd name="T63" fmla="*/ 116 h 171"/>
              <a:gd name="T64" fmla="*/ 90 w 148"/>
              <a:gd name="T65" fmla="*/ 159 h 171"/>
              <a:gd name="T66" fmla="*/ 13 w 148"/>
              <a:gd name="T67" fmla="*/ 86 h 171"/>
              <a:gd name="T68" fmla="*/ 90 w 148"/>
              <a:gd name="T69" fmla="*/ 12 h 171"/>
              <a:gd name="T70" fmla="*/ 122 w 148"/>
              <a:gd name="T71" fmla="*/ 45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8" h="171">
                <a:moveTo>
                  <a:pt x="122" y="45"/>
                </a:moveTo>
                <a:cubicBezTo>
                  <a:pt x="124" y="47"/>
                  <a:pt x="127" y="47"/>
                  <a:pt x="129" y="45"/>
                </a:cubicBezTo>
                <a:cubicBezTo>
                  <a:pt x="131" y="43"/>
                  <a:pt x="131" y="40"/>
                  <a:pt x="129" y="38"/>
                </a:cubicBezTo>
                <a:cubicBezTo>
                  <a:pt x="94" y="3"/>
                  <a:pt x="94" y="3"/>
                  <a:pt x="94" y="3"/>
                </a:cubicBezTo>
                <a:cubicBezTo>
                  <a:pt x="93" y="1"/>
                  <a:pt x="92" y="0"/>
                  <a:pt x="89" y="0"/>
                </a:cubicBezTo>
                <a:cubicBezTo>
                  <a:pt x="87" y="1"/>
                  <a:pt x="86" y="2"/>
                  <a:pt x="85" y="3"/>
                </a:cubicBezTo>
                <a:cubicBezTo>
                  <a:pt x="3" y="81"/>
                  <a:pt x="3" y="81"/>
                  <a:pt x="3" y="81"/>
                </a:cubicBezTo>
                <a:cubicBezTo>
                  <a:pt x="2" y="82"/>
                  <a:pt x="0" y="83"/>
                  <a:pt x="0" y="85"/>
                </a:cubicBezTo>
                <a:cubicBezTo>
                  <a:pt x="0" y="88"/>
                  <a:pt x="1" y="89"/>
                  <a:pt x="3" y="90"/>
                </a:cubicBezTo>
                <a:cubicBezTo>
                  <a:pt x="85" y="168"/>
                  <a:pt x="85" y="168"/>
                  <a:pt x="85" y="168"/>
                </a:cubicBezTo>
                <a:cubicBezTo>
                  <a:pt x="87" y="170"/>
                  <a:pt x="87" y="171"/>
                  <a:pt x="89" y="171"/>
                </a:cubicBezTo>
                <a:cubicBezTo>
                  <a:pt x="92" y="171"/>
                  <a:pt x="93" y="170"/>
                  <a:pt x="94" y="168"/>
                </a:cubicBezTo>
                <a:cubicBezTo>
                  <a:pt x="145" y="121"/>
                  <a:pt x="145" y="121"/>
                  <a:pt x="145" y="121"/>
                </a:cubicBezTo>
                <a:cubicBezTo>
                  <a:pt x="146" y="120"/>
                  <a:pt x="148" y="119"/>
                  <a:pt x="148" y="116"/>
                </a:cubicBezTo>
                <a:cubicBezTo>
                  <a:pt x="148" y="114"/>
                  <a:pt x="147" y="113"/>
                  <a:pt x="145" y="112"/>
                </a:cubicBezTo>
                <a:cubicBezTo>
                  <a:pt x="94" y="58"/>
                  <a:pt x="94" y="58"/>
                  <a:pt x="94" y="58"/>
                </a:cubicBezTo>
                <a:cubicBezTo>
                  <a:pt x="92" y="57"/>
                  <a:pt x="91" y="56"/>
                  <a:pt x="89" y="56"/>
                </a:cubicBezTo>
                <a:cubicBezTo>
                  <a:pt x="87" y="56"/>
                  <a:pt x="86" y="57"/>
                  <a:pt x="84" y="59"/>
                </a:cubicBezTo>
                <a:cubicBezTo>
                  <a:pt x="54" y="87"/>
                  <a:pt x="54" y="87"/>
                  <a:pt x="54" y="87"/>
                </a:cubicBezTo>
                <a:cubicBezTo>
                  <a:pt x="53" y="89"/>
                  <a:pt x="52" y="90"/>
                  <a:pt x="52" y="92"/>
                </a:cubicBezTo>
                <a:cubicBezTo>
                  <a:pt x="52" y="93"/>
                  <a:pt x="52" y="95"/>
                  <a:pt x="53" y="95"/>
                </a:cubicBezTo>
                <a:cubicBezTo>
                  <a:pt x="53" y="96"/>
                  <a:pt x="53" y="96"/>
                  <a:pt x="54" y="96"/>
                </a:cubicBezTo>
                <a:cubicBezTo>
                  <a:pt x="77" y="119"/>
                  <a:pt x="77" y="119"/>
                  <a:pt x="77" y="119"/>
                </a:cubicBezTo>
                <a:cubicBezTo>
                  <a:pt x="78" y="120"/>
                  <a:pt x="79" y="122"/>
                  <a:pt x="82" y="122"/>
                </a:cubicBezTo>
                <a:cubicBezTo>
                  <a:pt x="84" y="121"/>
                  <a:pt x="85" y="120"/>
                  <a:pt x="86" y="119"/>
                </a:cubicBezTo>
                <a:cubicBezTo>
                  <a:pt x="99" y="106"/>
                  <a:pt x="99" y="106"/>
                  <a:pt x="99" y="106"/>
                </a:cubicBezTo>
                <a:cubicBezTo>
                  <a:pt x="101" y="104"/>
                  <a:pt x="101" y="100"/>
                  <a:pt x="99" y="99"/>
                </a:cubicBezTo>
                <a:cubicBezTo>
                  <a:pt x="97" y="97"/>
                  <a:pt x="94" y="97"/>
                  <a:pt x="92" y="99"/>
                </a:cubicBezTo>
                <a:cubicBezTo>
                  <a:pt x="81" y="109"/>
                  <a:pt x="81" y="109"/>
                  <a:pt x="81" y="109"/>
                </a:cubicBezTo>
                <a:cubicBezTo>
                  <a:pt x="64" y="92"/>
                  <a:pt x="64" y="92"/>
                  <a:pt x="64" y="92"/>
                </a:cubicBezTo>
                <a:cubicBezTo>
                  <a:pt x="89" y="68"/>
                  <a:pt x="89" y="68"/>
                  <a:pt x="89" y="68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13" y="86"/>
                  <a:pt x="13" y="86"/>
                  <a:pt x="13" y="86"/>
                </a:cubicBezTo>
                <a:cubicBezTo>
                  <a:pt x="90" y="12"/>
                  <a:pt x="90" y="12"/>
                  <a:pt x="90" y="12"/>
                </a:cubicBezTo>
                <a:cubicBezTo>
                  <a:pt x="122" y="45"/>
                  <a:pt x="122" y="45"/>
                  <a:pt x="122" y="45"/>
                </a:cubicBezTo>
                <a:close/>
              </a:path>
            </a:pathLst>
          </a:custGeom>
          <a:solidFill>
            <a:srgbClr val="FBD7B3">
              <a:alpha val="5000"/>
            </a:srgb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8538669" y="123080"/>
            <a:ext cx="526642" cy="526642"/>
            <a:chOff x="114300" y="101600"/>
            <a:chExt cx="702189" cy="702189"/>
          </a:xfrm>
        </p:grpSpPr>
        <p:sp>
          <p:nvSpPr>
            <p:cNvPr id="43" name="任意多边形: 形状 42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 dirty="0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71644" y="6217089"/>
            <a:ext cx="526642" cy="526642"/>
            <a:chOff x="114300" y="101600"/>
            <a:chExt cx="702189" cy="702189"/>
          </a:xfrm>
        </p:grpSpPr>
        <p:sp>
          <p:nvSpPr>
            <p:cNvPr id="69" name="任意多边形: 形状 68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 dirty="0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</p:grpSp>
      <p:sp>
        <p:nvSpPr>
          <p:cNvPr id="104" name="mortarboard_91314"/>
          <p:cNvSpPr/>
          <p:nvPr/>
        </p:nvSpPr>
        <p:spPr>
          <a:xfrm>
            <a:off x="7596163" y="5151085"/>
            <a:ext cx="1047929" cy="657884"/>
          </a:xfrm>
          <a:custGeom>
            <a:avLst/>
            <a:gdLst>
              <a:gd name="T0" fmla="*/ 2357 w 2416"/>
              <a:gd name="T1" fmla="*/ 389 h 1519"/>
              <a:gd name="T2" fmla="*/ 1236 w 2416"/>
              <a:gd name="T3" fmla="*/ 6 h 1519"/>
              <a:gd name="T4" fmla="*/ 1180 w 2416"/>
              <a:gd name="T5" fmla="*/ 6 h 1519"/>
              <a:gd name="T6" fmla="*/ 59 w 2416"/>
              <a:gd name="T7" fmla="*/ 389 h 1519"/>
              <a:gd name="T8" fmla="*/ 0 w 2416"/>
              <a:gd name="T9" fmla="*/ 471 h 1519"/>
              <a:gd name="T10" fmla="*/ 59 w 2416"/>
              <a:gd name="T11" fmla="*/ 553 h 1519"/>
              <a:gd name="T12" fmla="*/ 495 w 2416"/>
              <a:gd name="T13" fmla="*/ 701 h 1519"/>
              <a:gd name="T14" fmla="*/ 495 w 2416"/>
              <a:gd name="T15" fmla="*/ 1153 h 1519"/>
              <a:gd name="T16" fmla="*/ 517 w 2416"/>
              <a:gd name="T17" fmla="*/ 1211 h 1519"/>
              <a:gd name="T18" fmla="*/ 1213 w 2416"/>
              <a:gd name="T19" fmla="*/ 1519 h 1519"/>
              <a:gd name="T20" fmla="*/ 1898 w 2416"/>
              <a:gd name="T21" fmla="*/ 1223 h 1519"/>
              <a:gd name="T22" fmla="*/ 1921 w 2416"/>
              <a:gd name="T23" fmla="*/ 1164 h 1519"/>
              <a:gd name="T24" fmla="*/ 1921 w 2416"/>
              <a:gd name="T25" fmla="*/ 702 h 1519"/>
              <a:gd name="T26" fmla="*/ 2101 w 2416"/>
              <a:gd name="T27" fmla="*/ 640 h 1519"/>
              <a:gd name="T28" fmla="*/ 2101 w 2416"/>
              <a:gd name="T29" fmla="*/ 858 h 1519"/>
              <a:gd name="T30" fmla="*/ 2068 w 2416"/>
              <a:gd name="T31" fmla="*/ 926 h 1519"/>
              <a:gd name="T32" fmla="*/ 2068 w 2416"/>
              <a:gd name="T33" fmla="*/ 1138 h 1519"/>
              <a:gd name="T34" fmla="*/ 2155 w 2416"/>
              <a:gd name="T35" fmla="*/ 1224 h 1519"/>
              <a:gd name="T36" fmla="*/ 2241 w 2416"/>
              <a:gd name="T37" fmla="*/ 1138 h 1519"/>
              <a:gd name="T38" fmla="*/ 2241 w 2416"/>
              <a:gd name="T39" fmla="*/ 926 h 1519"/>
              <a:gd name="T40" fmla="*/ 2208 w 2416"/>
              <a:gd name="T41" fmla="*/ 858 h 1519"/>
              <a:gd name="T42" fmla="*/ 2208 w 2416"/>
              <a:gd name="T43" fmla="*/ 604 h 1519"/>
              <a:gd name="T44" fmla="*/ 2357 w 2416"/>
              <a:gd name="T45" fmla="*/ 553 h 1519"/>
              <a:gd name="T46" fmla="*/ 2416 w 2416"/>
              <a:gd name="T47" fmla="*/ 471 h 1519"/>
              <a:gd name="T48" fmla="*/ 2357 w 2416"/>
              <a:gd name="T49" fmla="*/ 389 h 1519"/>
              <a:gd name="T50" fmla="*/ 1748 w 2416"/>
              <a:gd name="T51" fmla="*/ 1128 h 1519"/>
              <a:gd name="T52" fmla="*/ 1213 w 2416"/>
              <a:gd name="T53" fmla="*/ 1345 h 1519"/>
              <a:gd name="T54" fmla="*/ 668 w 2416"/>
              <a:gd name="T55" fmla="*/ 1118 h 1519"/>
              <a:gd name="T56" fmla="*/ 668 w 2416"/>
              <a:gd name="T57" fmla="*/ 760 h 1519"/>
              <a:gd name="T58" fmla="*/ 1183 w 2416"/>
              <a:gd name="T59" fmla="*/ 935 h 1519"/>
              <a:gd name="T60" fmla="*/ 1211 w 2416"/>
              <a:gd name="T61" fmla="*/ 939 h 1519"/>
              <a:gd name="T62" fmla="*/ 1239 w 2416"/>
              <a:gd name="T63" fmla="*/ 935 h 1519"/>
              <a:gd name="T64" fmla="*/ 1748 w 2416"/>
              <a:gd name="T65" fmla="*/ 761 h 1519"/>
              <a:gd name="T66" fmla="*/ 1748 w 2416"/>
              <a:gd name="T67" fmla="*/ 1128 h 1519"/>
              <a:gd name="T68" fmla="*/ 1210 w 2416"/>
              <a:gd name="T69" fmla="*/ 761 h 1519"/>
              <a:gd name="T70" fmla="*/ 356 w 2416"/>
              <a:gd name="T71" fmla="*/ 470 h 1519"/>
              <a:gd name="T72" fmla="*/ 1208 w 2416"/>
              <a:gd name="T73" fmla="*/ 180 h 1519"/>
              <a:gd name="T74" fmla="*/ 2061 w 2416"/>
              <a:gd name="T75" fmla="*/ 471 h 1519"/>
              <a:gd name="T76" fmla="*/ 1210 w 2416"/>
              <a:gd name="T77" fmla="*/ 761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16" h="1519">
                <a:moveTo>
                  <a:pt x="2357" y="389"/>
                </a:moveTo>
                <a:lnTo>
                  <a:pt x="1236" y="6"/>
                </a:lnTo>
                <a:cubicBezTo>
                  <a:pt x="1218" y="0"/>
                  <a:pt x="1198" y="0"/>
                  <a:pt x="1180" y="6"/>
                </a:cubicBezTo>
                <a:lnTo>
                  <a:pt x="59" y="389"/>
                </a:lnTo>
                <a:cubicBezTo>
                  <a:pt x="24" y="400"/>
                  <a:pt x="0" y="433"/>
                  <a:pt x="0" y="471"/>
                </a:cubicBezTo>
                <a:cubicBezTo>
                  <a:pt x="0" y="508"/>
                  <a:pt x="24" y="541"/>
                  <a:pt x="59" y="553"/>
                </a:cubicBezTo>
                <a:lnTo>
                  <a:pt x="495" y="701"/>
                </a:lnTo>
                <a:lnTo>
                  <a:pt x="495" y="1153"/>
                </a:lnTo>
                <a:cubicBezTo>
                  <a:pt x="495" y="1174"/>
                  <a:pt x="503" y="1195"/>
                  <a:pt x="517" y="1211"/>
                </a:cubicBezTo>
                <a:cubicBezTo>
                  <a:pt x="695" y="1406"/>
                  <a:pt x="949" y="1519"/>
                  <a:pt x="1213" y="1519"/>
                </a:cubicBezTo>
                <a:cubicBezTo>
                  <a:pt x="1475" y="1519"/>
                  <a:pt x="1718" y="1414"/>
                  <a:pt x="1898" y="1223"/>
                </a:cubicBezTo>
                <a:cubicBezTo>
                  <a:pt x="1913" y="1207"/>
                  <a:pt x="1921" y="1186"/>
                  <a:pt x="1921" y="1164"/>
                </a:cubicBezTo>
                <a:lnTo>
                  <a:pt x="1921" y="702"/>
                </a:lnTo>
                <a:lnTo>
                  <a:pt x="2101" y="640"/>
                </a:lnTo>
                <a:lnTo>
                  <a:pt x="2101" y="858"/>
                </a:lnTo>
                <a:cubicBezTo>
                  <a:pt x="2081" y="874"/>
                  <a:pt x="2068" y="898"/>
                  <a:pt x="2068" y="926"/>
                </a:cubicBezTo>
                <a:lnTo>
                  <a:pt x="2068" y="1138"/>
                </a:lnTo>
                <a:cubicBezTo>
                  <a:pt x="2068" y="1185"/>
                  <a:pt x="2107" y="1224"/>
                  <a:pt x="2155" y="1224"/>
                </a:cubicBezTo>
                <a:cubicBezTo>
                  <a:pt x="2203" y="1224"/>
                  <a:pt x="2241" y="1185"/>
                  <a:pt x="2241" y="1138"/>
                </a:cubicBezTo>
                <a:lnTo>
                  <a:pt x="2241" y="926"/>
                </a:lnTo>
                <a:cubicBezTo>
                  <a:pt x="2241" y="898"/>
                  <a:pt x="2228" y="874"/>
                  <a:pt x="2208" y="858"/>
                </a:cubicBezTo>
                <a:lnTo>
                  <a:pt x="2208" y="604"/>
                </a:lnTo>
                <a:lnTo>
                  <a:pt x="2357" y="553"/>
                </a:lnTo>
                <a:cubicBezTo>
                  <a:pt x="2393" y="541"/>
                  <a:pt x="2416" y="508"/>
                  <a:pt x="2416" y="471"/>
                </a:cubicBezTo>
                <a:cubicBezTo>
                  <a:pt x="2416" y="433"/>
                  <a:pt x="2392" y="400"/>
                  <a:pt x="2357" y="389"/>
                </a:cubicBezTo>
                <a:close/>
                <a:moveTo>
                  <a:pt x="1748" y="1128"/>
                </a:moveTo>
                <a:cubicBezTo>
                  <a:pt x="1604" y="1268"/>
                  <a:pt x="1415" y="1345"/>
                  <a:pt x="1213" y="1345"/>
                </a:cubicBezTo>
                <a:cubicBezTo>
                  <a:pt x="1009" y="1345"/>
                  <a:pt x="812" y="1263"/>
                  <a:pt x="668" y="1118"/>
                </a:cubicBezTo>
                <a:lnTo>
                  <a:pt x="668" y="760"/>
                </a:lnTo>
                <a:lnTo>
                  <a:pt x="1183" y="935"/>
                </a:lnTo>
                <a:cubicBezTo>
                  <a:pt x="1192" y="938"/>
                  <a:pt x="1201" y="939"/>
                  <a:pt x="1211" y="939"/>
                </a:cubicBezTo>
                <a:cubicBezTo>
                  <a:pt x="1220" y="939"/>
                  <a:pt x="1229" y="938"/>
                  <a:pt x="1239" y="935"/>
                </a:cubicBezTo>
                <a:lnTo>
                  <a:pt x="1748" y="761"/>
                </a:lnTo>
                <a:lnTo>
                  <a:pt x="1748" y="1128"/>
                </a:lnTo>
                <a:close/>
                <a:moveTo>
                  <a:pt x="1210" y="761"/>
                </a:moveTo>
                <a:lnTo>
                  <a:pt x="356" y="470"/>
                </a:lnTo>
                <a:lnTo>
                  <a:pt x="1208" y="180"/>
                </a:lnTo>
                <a:lnTo>
                  <a:pt x="2061" y="471"/>
                </a:lnTo>
                <a:lnTo>
                  <a:pt x="1210" y="761"/>
                </a:lnTo>
                <a:close/>
              </a:path>
            </a:pathLst>
          </a:cu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51" name="文本框 50"/>
          <p:cNvSpPr txBox="1"/>
          <p:nvPr/>
        </p:nvSpPr>
        <p:spPr>
          <a:xfrm>
            <a:off x="3036964" y="2798187"/>
            <a:ext cx="3070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kern="0" spc="-19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实 验 课 程 </a:t>
            </a:r>
            <a:r>
              <a:rPr lang="en-US" altLang="zh-CN" sz="4000" b="1" kern="0" spc="-19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3 </a:t>
            </a:r>
            <a:endParaRPr lang="zh-CN" altLang="en-US" sz="4000" b="1" kern="0" spc="-19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80"/>
          <a:stretch>
            <a:fillRect/>
          </a:stretch>
        </p:blipFill>
        <p:spPr>
          <a:xfrm>
            <a:off x="449330" y="429034"/>
            <a:ext cx="966996" cy="93263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实验课程 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067410-12CF-4552-9FE8-1DE737566A8B}"/>
              </a:ext>
            </a:extLst>
          </p:cNvPr>
          <p:cNvSpPr txBox="1">
            <a:spLocks/>
          </p:cNvSpPr>
          <p:nvPr/>
        </p:nvSpPr>
        <p:spPr>
          <a:xfrm>
            <a:off x="601318" y="2108131"/>
            <a:ext cx="8229600" cy="27819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tabLst/>
              <a:defRPr/>
            </a:pPr>
            <a:r>
              <a:rPr kumimoji="0" lang="zh-CN" altLang="en-US" sz="2835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掌握</a:t>
            </a:r>
            <a:r>
              <a:rPr lang="zh-CN" altLang="en-US" sz="2835" spc="150" dirty="0">
                <a:latin typeface="微软雅黑" panose="020B0503020204020204" charset="-122"/>
                <a:ea typeface="微软雅黑"/>
              </a:rPr>
              <a:t>存储管理</a:t>
            </a:r>
            <a:r>
              <a:rPr lang="en-US" altLang="zh-CN" sz="2835" spc="150" dirty="0">
                <a:latin typeface="微软雅黑" panose="020B0503020204020204" charset="-122"/>
                <a:ea typeface="微软雅黑"/>
              </a:rPr>
              <a:t>3</a:t>
            </a:r>
            <a:r>
              <a:rPr kumimoji="0" lang="zh-CN" altLang="en-US" sz="2835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的内容：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zh-CN" altLang="en-US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掌握</a:t>
            </a:r>
            <a:r>
              <a:rPr kumimoji="0" lang="en-US" altLang="zh-CN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FCFS</a:t>
            </a:r>
            <a:r>
              <a:rPr kumimoji="0" lang="zh-CN" altLang="en-US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算法的模拟实现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zh-CN" altLang="en-US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掌握</a:t>
            </a:r>
            <a:r>
              <a:rPr kumimoji="0" lang="en-US" altLang="zh-CN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SJF</a:t>
            </a:r>
            <a:r>
              <a:rPr kumimoji="0" lang="zh-CN" altLang="en-US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算法的模拟实现</a:t>
            </a:r>
          </a:p>
          <a:p>
            <a: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zh-CN" altLang="en-US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/>
                <a:cs typeface="+mn-cs"/>
              </a:rPr>
              <a:t>掌握</a:t>
            </a:r>
            <a:r>
              <a:rPr kumimoji="0" lang="zh-CN" altLang="en-US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ea"/>
                <a:sym typeface="+mn-ea"/>
              </a:rPr>
              <a:t>多级反馈队列调度算法</a:t>
            </a:r>
            <a:r>
              <a:rPr kumimoji="0" lang="en-US" altLang="zh-CN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ea"/>
                <a:sym typeface="+mn-ea"/>
              </a:rPr>
              <a:t>(</a:t>
            </a:r>
            <a:r>
              <a:rPr kumimoji="0" lang="en-US" altLang="zh-CN" sz="2520" b="0" i="0" u="none" strike="noStrike" kern="1200" cap="none" spc="15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ea"/>
                <a:sym typeface="+mn-ea"/>
              </a:rPr>
              <a:t>Feedback,FB</a:t>
            </a:r>
            <a:r>
              <a:rPr kumimoji="0" lang="en-US" altLang="zh-CN" sz="2520" b="0" i="0" u="none" strike="noStrike" kern="1200" cap="none" spc="15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ea"/>
                <a:sym typeface="+mn-ea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9" name="textbox 484">
            <a:extLst>
              <a:ext uri="{FF2B5EF4-FFF2-40B4-BE49-F238E27FC236}">
                <a16:creationId xmlns:a16="http://schemas.microsoft.com/office/drawing/2014/main" id="{E59E0741-4915-4405-B47F-A586DB2EE6BD}"/>
              </a:ext>
            </a:extLst>
          </p:cNvPr>
          <p:cNvSpPr/>
          <p:nvPr/>
        </p:nvSpPr>
        <p:spPr>
          <a:xfrm>
            <a:off x="780098" y="783738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sz="2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思考题</a:t>
            </a:r>
            <a:r>
              <a:rPr sz="2800" kern="0" spc="-5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28704E-EF2C-4F30-8402-0BFADECCADBF}"/>
              </a:ext>
            </a:extLst>
          </p:cNvPr>
          <p:cNvSpPr txBox="1"/>
          <p:nvPr/>
        </p:nvSpPr>
        <p:spPr>
          <a:xfrm>
            <a:off x="1056005" y="2416810"/>
            <a:ext cx="7307580" cy="32478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7515"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b="1" kern="0" spc="-8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某虚拟存储器的用户空间共有32个页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面，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每页1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KB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主存16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KB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。假定某时刻系统为</a:t>
            </a:r>
            <a:r>
              <a:rPr sz="2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该用户的第0、1、2、3页分别分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配的物理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页帧号为5、10、4、7,</a:t>
            </a:r>
            <a:r>
              <a:rPr lang="en-US"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试将虚拟地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址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0A5C变换为物理地址。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03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0" name="textbox 484">
            <a:extLst>
              <a:ext uri="{FF2B5EF4-FFF2-40B4-BE49-F238E27FC236}">
                <a16:creationId xmlns:a16="http://schemas.microsoft.com/office/drawing/2014/main" id="{8837D729-EC52-40D3-B4C8-F279DC2F0DD0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sz="2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问题的解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10B3611-DAC3-4E2E-B1ED-175E6B167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902" y="2547236"/>
            <a:ext cx="6424681" cy="353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5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9" name="textbox 484">
            <a:extLst>
              <a:ext uri="{FF2B5EF4-FFF2-40B4-BE49-F238E27FC236}">
                <a16:creationId xmlns:a16="http://schemas.microsoft.com/office/drawing/2014/main" id="{6FC5B7C1-6D27-4927-BED4-11A620E2A3F1}"/>
              </a:ext>
            </a:extLst>
          </p:cNvPr>
          <p:cNvSpPr/>
          <p:nvPr/>
        </p:nvSpPr>
        <p:spPr>
          <a:xfrm>
            <a:off x="780415" y="85725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sz="2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问题的解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CBCC7E-D3AE-49D2-BEF8-67E4DCDD5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15" y="2257006"/>
            <a:ext cx="7243231" cy="409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3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6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9" name="textbox 484">
            <a:extLst>
              <a:ext uri="{FF2B5EF4-FFF2-40B4-BE49-F238E27FC236}">
                <a16:creationId xmlns:a16="http://schemas.microsoft.com/office/drawing/2014/main" id="{6FC5B7C1-6D27-4927-BED4-11A620E2A3F1}"/>
              </a:ext>
            </a:extLst>
          </p:cNvPr>
          <p:cNvSpPr/>
          <p:nvPr/>
        </p:nvSpPr>
        <p:spPr>
          <a:xfrm>
            <a:off x="780098" y="873109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样例程序</a:t>
            </a:r>
            <a:r>
              <a:rPr lang="en-US" altLang="zh-CN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 descr="VirtualBox_ubuntu18_22_05_2025_13_54_01">
            <a:extLst>
              <a:ext uri="{FF2B5EF4-FFF2-40B4-BE49-F238E27FC236}">
                <a16:creationId xmlns:a16="http://schemas.microsoft.com/office/drawing/2014/main" id="{6A006943-D0AF-4FEB-AFC1-251CE597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3" t="6191" r="50000" b="17912"/>
          <a:stretch>
            <a:fillRect/>
          </a:stretch>
        </p:blipFill>
        <p:spPr>
          <a:xfrm>
            <a:off x="0" y="2337435"/>
            <a:ext cx="4073525" cy="3319145"/>
          </a:xfrm>
          <a:prstGeom prst="rect">
            <a:avLst/>
          </a:prstGeom>
        </p:spPr>
      </p:pic>
      <p:pic>
        <p:nvPicPr>
          <p:cNvPr id="12" name="图片 11" descr="VirtualBox_ubuntu18_22_05_2025_13_55_31">
            <a:extLst>
              <a:ext uri="{FF2B5EF4-FFF2-40B4-BE49-F238E27FC236}">
                <a16:creationId xmlns:a16="http://schemas.microsoft.com/office/drawing/2014/main" id="{8883B0D7-FE24-428F-A2CF-AF8A50BDB9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83" t="6771" r="50875" b="22311"/>
          <a:stretch>
            <a:fillRect/>
          </a:stretch>
        </p:blipFill>
        <p:spPr>
          <a:xfrm>
            <a:off x="4121785" y="2337435"/>
            <a:ext cx="496062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4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7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9" name="textbox 484">
            <a:extLst>
              <a:ext uri="{FF2B5EF4-FFF2-40B4-BE49-F238E27FC236}">
                <a16:creationId xmlns:a16="http://schemas.microsoft.com/office/drawing/2014/main" id="{6FC5B7C1-6D27-4927-BED4-11A620E2A3F1}"/>
              </a:ext>
            </a:extLst>
          </p:cNvPr>
          <p:cNvSpPr/>
          <p:nvPr/>
        </p:nvSpPr>
        <p:spPr>
          <a:xfrm>
            <a:off x="780098" y="873109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样例程序</a:t>
            </a:r>
            <a:r>
              <a:rPr lang="en-US" altLang="zh-CN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 descr="VirtualBox_ubuntu18_22_05_2025_13_55_31">
            <a:extLst>
              <a:ext uri="{FF2B5EF4-FFF2-40B4-BE49-F238E27FC236}">
                <a16:creationId xmlns:a16="http://schemas.microsoft.com/office/drawing/2014/main" id="{61DD722C-7287-4600-8B8A-F88D882F1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44" t="10604" r="11201" b="36886"/>
          <a:stretch>
            <a:fillRect/>
          </a:stretch>
        </p:blipFill>
        <p:spPr>
          <a:xfrm>
            <a:off x="1677385" y="2284586"/>
            <a:ext cx="6460028" cy="457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3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8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实验题目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E767F2-56B1-4642-8D2F-20FEF6C63D80}"/>
              </a:ext>
            </a:extLst>
          </p:cNvPr>
          <p:cNvSpPr txBox="1"/>
          <p:nvPr/>
        </p:nvSpPr>
        <p:spPr>
          <a:xfrm>
            <a:off x="319088" y="2438368"/>
            <a:ext cx="8616950" cy="403671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基于二级页表的虚拟地址转换。</a:t>
            </a:r>
          </a:p>
          <a:p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参数设定：某计算机系统的主存按字节编址，逻辑地址和物理地址都是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32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位，其内存管理采用两级页表的分页存储管理方式。逻辑地址的高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10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位是页目录索引（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PDI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），中间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10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位是页表索引（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PTI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），低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12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位是页内偏移。</a:t>
            </a:r>
          </a:p>
          <a:p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652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9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实验题目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A13443-9327-45CF-B2D6-DEA1F102993D}"/>
              </a:ext>
            </a:extLst>
          </p:cNvPr>
          <p:cNvSpPr txBox="1"/>
          <p:nvPr/>
        </p:nvSpPr>
        <p:spPr>
          <a:xfrm>
            <a:off x="63015" y="3429000"/>
            <a:ext cx="2265237" cy="1486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页目录表和部分页表情况：</a:t>
            </a:r>
          </a:p>
          <a:p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8523C4E-F69B-4EEC-A03D-FAEE3C42C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717" y="2952750"/>
            <a:ext cx="1551940" cy="19627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122BE47-563E-466D-84F3-65A529955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477" y="1501775"/>
            <a:ext cx="1639570" cy="19272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864011-E25D-419C-8CFD-2E7D63DF0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992" y="3138805"/>
            <a:ext cx="1405255" cy="19627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EB7B56C-A38C-46E9-8E7A-9979E21D2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942" y="4915535"/>
            <a:ext cx="1446530" cy="1910080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4E4F55C-75C9-465A-B6BC-39E8F6E29FC3}"/>
              </a:ext>
            </a:extLst>
          </p:cNvPr>
          <p:cNvCxnSpPr/>
          <p:nvPr/>
        </p:nvCxnSpPr>
        <p:spPr>
          <a:xfrm flipV="1">
            <a:off x="4289767" y="2514600"/>
            <a:ext cx="668655" cy="123825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8315361-B672-436E-A774-9D498D566B48}"/>
              </a:ext>
            </a:extLst>
          </p:cNvPr>
          <p:cNvCxnSpPr/>
          <p:nvPr/>
        </p:nvCxnSpPr>
        <p:spPr>
          <a:xfrm>
            <a:off x="4289767" y="4120515"/>
            <a:ext cx="2211705" cy="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1DC0B3A-2059-40F6-A2C5-6C5F15E1CA60}"/>
              </a:ext>
            </a:extLst>
          </p:cNvPr>
          <p:cNvCxnSpPr>
            <a:endCxn id="15" idx="1"/>
          </p:cNvCxnSpPr>
          <p:nvPr/>
        </p:nvCxnSpPr>
        <p:spPr>
          <a:xfrm>
            <a:off x="4128477" y="4247515"/>
            <a:ext cx="926465" cy="1623060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4872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10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实验题目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A5CC32-E33E-4C82-9CC0-3E850A21D8D1}"/>
              </a:ext>
            </a:extLst>
          </p:cNvPr>
          <p:cNvSpPr txBox="1"/>
          <p:nvPr/>
        </p:nvSpPr>
        <p:spPr>
          <a:xfrm>
            <a:off x="347345" y="2257424"/>
            <a:ext cx="8616950" cy="403860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基于二级页表的虚拟地址转换。</a:t>
            </a:r>
          </a:p>
          <a:p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微软雅黑" panose="020B0503020204020204" charset="-122"/>
              <a:cs typeface="+mn-ea"/>
              <a:sym typeface="+mn-ea"/>
            </a:endParaRPr>
          </a:p>
          <a:p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输入要求：输入的虚拟地址：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0x00402269</a:t>
            </a:r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。</a:t>
            </a:r>
          </a:p>
          <a:p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微软雅黑" panose="020B0503020204020204" charset="-122"/>
              <a:cs typeface="+mn-ea"/>
              <a:sym typeface="+mn-ea"/>
            </a:endParaRPr>
          </a:p>
          <a:p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输出结果：计算出相应的实际物理地址（以十六进制形式表示），并在虚拟页面无法找到对应物理页面时，输出缺页中断的提示信息。</a:t>
            </a:r>
          </a:p>
        </p:txBody>
      </p:sp>
    </p:spTree>
    <p:extLst>
      <p:ext uri="{BB962C8B-B14F-4D97-AF65-F5344CB8AC3E}">
        <p14:creationId xmlns:p14="http://schemas.microsoft.com/office/powerpoint/2010/main" val="1768656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11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65882" y="5791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实验题目</a:t>
            </a:r>
            <a:endParaRPr lang="en-US" altLang="zh-CN" sz="4000" kern="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altLang="zh-CN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  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代码补充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8A503F9-E164-4E76-A8CA-10D0EE0B2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059164"/>
            <a:ext cx="4629785" cy="578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58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65882" y="782568"/>
            <a:ext cx="8150225" cy="119799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实验题目测试案例</a:t>
            </a:r>
            <a:endParaRPr lang="en-US" altLang="zh-CN" sz="4000" kern="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</a:endParaRPr>
          </a:p>
        </p:txBody>
      </p:sp>
      <p:pic>
        <p:nvPicPr>
          <p:cNvPr id="9" name="图片 8" descr="VirtualBox_ubuntu18_22_05_2025_13_58_30">
            <a:extLst>
              <a:ext uri="{FF2B5EF4-FFF2-40B4-BE49-F238E27FC236}">
                <a16:creationId xmlns:a16="http://schemas.microsoft.com/office/drawing/2014/main" id="{D2F8681E-92AF-41B7-AC7B-A365C15B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44" t="34749" r="13521" b="50000"/>
          <a:stretch>
            <a:fillRect/>
          </a:stretch>
        </p:blipFill>
        <p:spPr>
          <a:xfrm>
            <a:off x="87630" y="2815590"/>
            <a:ext cx="8917940" cy="195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35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报告内容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DAB3E5-5561-4089-BBF5-1C50BB8265E9}"/>
              </a:ext>
            </a:extLst>
          </p:cNvPr>
          <p:cNvSpPr txBox="1"/>
          <p:nvPr/>
        </p:nvSpPr>
        <p:spPr>
          <a:xfrm>
            <a:off x="666750" y="1781174"/>
            <a:ext cx="7804150" cy="5024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个部分：</a:t>
            </a:r>
            <a:endParaRPr lang="en-US" altLang="zh-CN" sz="2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ubuntu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虚拟机上编译示例程序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addr_transform.c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，运行输出结果，并使用文字解释程序的运行结果。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完成思考题，根据我在已有代码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addr_transform_2p.c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，在里面填充所需的模块，将代码截图以及和最终运行结果截图，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并且使用文字解释程序的运行结果。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125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报告内容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6CEC03-1F77-480D-BCE6-C279D37E4113}"/>
              </a:ext>
            </a:extLst>
          </p:cNvPr>
          <p:cNvSpPr txBox="1"/>
          <p:nvPr/>
        </p:nvSpPr>
        <p:spPr>
          <a:xfrm>
            <a:off x="740410" y="2121079"/>
            <a:ext cx="7730490" cy="387967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要求每个部分都要有文字和图片截图。包含地址映射实验的实验报告（格式不限，截图说明实验结果）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报告命名方式：实验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2+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接收邮箱：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kcheng121@163.com</a:t>
            </a:r>
          </a:p>
        </p:txBody>
      </p:sp>
    </p:spTree>
    <p:extLst>
      <p:ext uri="{BB962C8B-B14F-4D97-AF65-F5344CB8AC3E}">
        <p14:creationId xmlns:p14="http://schemas.microsoft.com/office/powerpoint/2010/main" val="34918933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U2NDFjNGFkNzQwMzhkYmRkOTU4MWI2OTQwOTIyY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5186;"/>
</p:tagLst>
</file>

<file path=ppt/theme/theme1.xml><?xml version="1.0" encoding="utf-8"?>
<a:theme xmlns:a="http://schemas.openxmlformats.org/drawingml/2006/main" name="Office Theme">
  <a:themeElements>
    <a:clrScheme name="橙红色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406</Words>
  <Application>Microsoft Office PowerPoint</Application>
  <PresentationFormat>全屏显示(4:3)</PresentationFormat>
  <Paragraphs>95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宋体</vt:lpstr>
      <vt:lpstr>微软雅黑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132</cp:revision>
  <dcterms:created xsi:type="dcterms:W3CDTF">2025-03-11T05:58:00Z</dcterms:created>
  <dcterms:modified xsi:type="dcterms:W3CDTF">2025-05-22T16:31:58Z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8B6B6697CE0E42F7979B251A24CB5C5C_12</vt:lpwstr>
  </property>
  <property fmtid="{D5CDD505-2E9C-101B-9397-08002B2CF9AE}" pid="3" name="KSOProductBuildVer">
    <vt:lpwstr>2052-12.1.0.19770</vt:lpwstr>
  </property>
</Properties>
</file>